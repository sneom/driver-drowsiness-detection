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74" r:id="rId2"/>
    <p:sldId id="257" r:id="rId3"/>
    <p:sldId id="256"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9" r:id="rId18"/>
    <p:sldId id="290" r:id="rId19"/>
    <p:sldId id="291" r:id="rId20"/>
    <p:sldId id="288" r:id="rId21"/>
    <p:sldId id="29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CA38A3-F190-CA1A-BEA5-DA126542BA2E}" v="580" dt="2025-04-24T19:13:22.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4" d="100"/>
          <a:sy n="74" d="100"/>
        </p:scale>
        <p:origin x="3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8E85AF-5558-4430-BCB9-654366F9BC20}"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6B1BF7E-3A93-4DCC-99E0-2CEEE4D383A2}">
      <dgm:prSet/>
      <dgm:spPr/>
      <dgm:t>
        <a:bodyPr/>
        <a:lstStyle/>
        <a:p>
          <a:r>
            <a:rPr lang="en-US"/>
            <a:t>•Introduction</a:t>
          </a:r>
        </a:p>
      </dgm:t>
    </dgm:pt>
    <dgm:pt modelId="{4D72B673-6EE5-466F-BE9E-B5ECF0267705}" type="parTrans" cxnId="{96AA6B8E-66C3-4BA8-8045-CFE33FBC5130}">
      <dgm:prSet/>
      <dgm:spPr/>
      <dgm:t>
        <a:bodyPr/>
        <a:lstStyle/>
        <a:p>
          <a:endParaRPr lang="en-US"/>
        </a:p>
      </dgm:t>
    </dgm:pt>
    <dgm:pt modelId="{B9CF35B6-2D27-47F0-8586-506F4CEF7DDB}" type="sibTrans" cxnId="{96AA6B8E-66C3-4BA8-8045-CFE33FBC5130}">
      <dgm:prSet/>
      <dgm:spPr/>
      <dgm:t>
        <a:bodyPr/>
        <a:lstStyle/>
        <a:p>
          <a:endParaRPr lang="en-US"/>
        </a:p>
      </dgm:t>
    </dgm:pt>
    <dgm:pt modelId="{FEF2140D-2241-4EA1-8A46-5A3AD139495E}">
      <dgm:prSet/>
      <dgm:spPr/>
      <dgm:t>
        <a:bodyPr/>
        <a:lstStyle/>
        <a:p>
          <a:r>
            <a:rPr lang="en-US"/>
            <a:t>•Motivation</a:t>
          </a:r>
        </a:p>
      </dgm:t>
    </dgm:pt>
    <dgm:pt modelId="{2FC64044-6C3E-4FB9-A392-E11DB658A560}" type="parTrans" cxnId="{D1D52335-0067-4A64-B5FC-E727F9918831}">
      <dgm:prSet/>
      <dgm:spPr/>
      <dgm:t>
        <a:bodyPr/>
        <a:lstStyle/>
        <a:p>
          <a:endParaRPr lang="en-US"/>
        </a:p>
      </dgm:t>
    </dgm:pt>
    <dgm:pt modelId="{52040D57-4003-4141-ACB9-8746BB989E90}" type="sibTrans" cxnId="{D1D52335-0067-4A64-B5FC-E727F9918831}">
      <dgm:prSet/>
      <dgm:spPr/>
      <dgm:t>
        <a:bodyPr/>
        <a:lstStyle/>
        <a:p>
          <a:endParaRPr lang="en-US"/>
        </a:p>
      </dgm:t>
    </dgm:pt>
    <dgm:pt modelId="{1B0B88FE-B5A3-4FA3-B52E-0FBDD6AA3EE2}">
      <dgm:prSet/>
      <dgm:spPr/>
      <dgm:t>
        <a:bodyPr/>
        <a:lstStyle/>
        <a:p>
          <a:r>
            <a:rPr lang="en-US"/>
            <a:t>•Literature Survey</a:t>
          </a:r>
        </a:p>
      </dgm:t>
    </dgm:pt>
    <dgm:pt modelId="{D15EB812-4F25-456D-89E6-D625417A4819}" type="parTrans" cxnId="{5768ABAE-3A7D-46EC-B893-035E01FD67B1}">
      <dgm:prSet/>
      <dgm:spPr/>
      <dgm:t>
        <a:bodyPr/>
        <a:lstStyle/>
        <a:p>
          <a:endParaRPr lang="en-US"/>
        </a:p>
      </dgm:t>
    </dgm:pt>
    <dgm:pt modelId="{F4A3921F-97B8-4437-AFC1-D8225489A3DA}" type="sibTrans" cxnId="{5768ABAE-3A7D-46EC-B893-035E01FD67B1}">
      <dgm:prSet/>
      <dgm:spPr/>
      <dgm:t>
        <a:bodyPr/>
        <a:lstStyle/>
        <a:p>
          <a:endParaRPr lang="en-US"/>
        </a:p>
      </dgm:t>
    </dgm:pt>
    <dgm:pt modelId="{20345325-8FAE-4BDF-A9BC-049CB3D38D77}">
      <dgm:prSet/>
      <dgm:spPr/>
      <dgm:t>
        <a:bodyPr/>
        <a:lstStyle/>
        <a:p>
          <a:r>
            <a:rPr lang="en-US"/>
            <a:t>•Summary/findings of Literature Survey</a:t>
          </a:r>
        </a:p>
      </dgm:t>
    </dgm:pt>
    <dgm:pt modelId="{E918F8FD-CA74-440F-9D21-2FD1177CC412}" type="parTrans" cxnId="{DE1E31EF-E7E4-45BA-8D23-07A071D3C8A2}">
      <dgm:prSet/>
      <dgm:spPr/>
      <dgm:t>
        <a:bodyPr/>
        <a:lstStyle/>
        <a:p>
          <a:endParaRPr lang="en-US"/>
        </a:p>
      </dgm:t>
    </dgm:pt>
    <dgm:pt modelId="{E05A5324-345F-4395-A3CB-C3448BC1AAEA}" type="sibTrans" cxnId="{DE1E31EF-E7E4-45BA-8D23-07A071D3C8A2}">
      <dgm:prSet/>
      <dgm:spPr/>
      <dgm:t>
        <a:bodyPr/>
        <a:lstStyle/>
        <a:p>
          <a:endParaRPr lang="en-US"/>
        </a:p>
      </dgm:t>
    </dgm:pt>
    <dgm:pt modelId="{D41FD059-6F7B-48EF-9A22-D532F2747058}">
      <dgm:prSet/>
      <dgm:spPr/>
      <dgm:t>
        <a:bodyPr/>
        <a:lstStyle/>
        <a:p>
          <a:r>
            <a:rPr lang="en-US"/>
            <a:t>•Objectives</a:t>
          </a:r>
        </a:p>
      </dgm:t>
    </dgm:pt>
    <dgm:pt modelId="{FE92C13F-59F5-4AE0-AF89-212B662CF7A0}" type="parTrans" cxnId="{B31DF647-092E-4A91-A226-C6054197D426}">
      <dgm:prSet/>
      <dgm:spPr/>
      <dgm:t>
        <a:bodyPr/>
        <a:lstStyle/>
        <a:p>
          <a:endParaRPr lang="en-US"/>
        </a:p>
      </dgm:t>
    </dgm:pt>
    <dgm:pt modelId="{2A71B890-95AB-4949-9179-AFB6171F3293}" type="sibTrans" cxnId="{B31DF647-092E-4A91-A226-C6054197D426}">
      <dgm:prSet/>
      <dgm:spPr/>
      <dgm:t>
        <a:bodyPr/>
        <a:lstStyle/>
        <a:p>
          <a:endParaRPr lang="en-US"/>
        </a:p>
      </dgm:t>
    </dgm:pt>
    <dgm:pt modelId="{99D77035-F4A8-4C93-8BE1-4EBB94C24D84}">
      <dgm:prSet/>
      <dgm:spPr/>
      <dgm:t>
        <a:bodyPr/>
        <a:lstStyle/>
        <a:p>
          <a:r>
            <a:rPr lang="en-US"/>
            <a:t>•Architecture of  System</a:t>
          </a:r>
        </a:p>
      </dgm:t>
    </dgm:pt>
    <dgm:pt modelId="{7A6E19F4-F221-45F6-B0F3-5E560512D886}" type="parTrans" cxnId="{DCEABAC0-A2E9-46EF-9479-4F9344D2DA47}">
      <dgm:prSet/>
      <dgm:spPr/>
      <dgm:t>
        <a:bodyPr/>
        <a:lstStyle/>
        <a:p>
          <a:endParaRPr lang="en-US"/>
        </a:p>
      </dgm:t>
    </dgm:pt>
    <dgm:pt modelId="{B24C3841-3D6A-44FD-9563-055548EDC663}" type="sibTrans" cxnId="{DCEABAC0-A2E9-46EF-9479-4F9344D2DA47}">
      <dgm:prSet/>
      <dgm:spPr/>
      <dgm:t>
        <a:bodyPr/>
        <a:lstStyle/>
        <a:p>
          <a:endParaRPr lang="en-US"/>
        </a:p>
      </dgm:t>
    </dgm:pt>
    <dgm:pt modelId="{B6446447-9803-46FA-A46C-B89BFD9D29DD}">
      <dgm:prSet/>
      <dgm:spPr/>
      <dgm:t>
        <a:bodyPr/>
        <a:lstStyle/>
        <a:p>
          <a:r>
            <a:rPr lang="en-US"/>
            <a:t>•Conclusion</a:t>
          </a:r>
        </a:p>
      </dgm:t>
    </dgm:pt>
    <dgm:pt modelId="{16E9B027-D490-49DE-96BF-410F6E40A3B7}" type="parTrans" cxnId="{149B2A37-6B48-4FFA-9CC8-ED03A1352C37}">
      <dgm:prSet/>
      <dgm:spPr/>
      <dgm:t>
        <a:bodyPr/>
        <a:lstStyle/>
        <a:p>
          <a:endParaRPr lang="en-US"/>
        </a:p>
      </dgm:t>
    </dgm:pt>
    <dgm:pt modelId="{DAAE3F39-32A0-4B95-81C5-25D88FBC5B10}" type="sibTrans" cxnId="{149B2A37-6B48-4FFA-9CC8-ED03A1352C37}">
      <dgm:prSet/>
      <dgm:spPr/>
      <dgm:t>
        <a:bodyPr/>
        <a:lstStyle/>
        <a:p>
          <a:endParaRPr lang="en-US"/>
        </a:p>
      </dgm:t>
    </dgm:pt>
    <dgm:pt modelId="{C8C56E32-659A-4108-9384-B6BA722A3C3B}">
      <dgm:prSet/>
      <dgm:spPr/>
      <dgm:t>
        <a:bodyPr/>
        <a:lstStyle/>
        <a:p>
          <a:r>
            <a:rPr lang="en-US"/>
            <a:t>•References</a:t>
          </a:r>
        </a:p>
      </dgm:t>
    </dgm:pt>
    <dgm:pt modelId="{528F0896-40CD-47FA-ACB6-7CDC844DE387}" type="parTrans" cxnId="{B7EA6735-1E83-4BD2-A375-2C7484FB352C}">
      <dgm:prSet/>
      <dgm:spPr/>
      <dgm:t>
        <a:bodyPr/>
        <a:lstStyle/>
        <a:p>
          <a:endParaRPr lang="en-US"/>
        </a:p>
      </dgm:t>
    </dgm:pt>
    <dgm:pt modelId="{4A19F6D2-5F0E-4F10-B154-D7260BFB29DA}" type="sibTrans" cxnId="{B7EA6735-1E83-4BD2-A375-2C7484FB352C}">
      <dgm:prSet/>
      <dgm:spPr/>
      <dgm:t>
        <a:bodyPr/>
        <a:lstStyle/>
        <a:p>
          <a:endParaRPr lang="en-US"/>
        </a:p>
      </dgm:t>
    </dgm:pt>
    <dgm:pt modelId="{3FFC8276-E461-4AF1-B6D4-52F0EF934746}" type="pres">
      <dgm:prSet presAssocID="{878E85AF-5558-4430-BCB9-654366F9BC20}" presName="vert0" presStyleCnt="0">
        <dgm:presLayoutVars>
          <dgm:dir/>
          <dgm:animOne val="branch"/>
          <dgm:animLvl val="lvl"/>
        </dgm:presLayoutVars>
      </dgm:prSet>
      <dgm:spPr/>
    </dgm:pt>
    <dgm:pt modelId="{4509446A-08BC-4F2F-B4EC-7110EF46E452}" type="pres">
      <dgm:prSet presAssocID="{36B1BF7E-3A93-4DCC-99E0-2CEEE4D383A2}" presName="thickLine" presStyleLbl="alignNode1" presStyleIdx="0" presStyleCnt="8"/>
      <dgm:spPr/>
    </dgm:pt>
    <dgm:pt modelId="{39B61B8A-CE28-421F-84A9-757800BAADC8}" type="pres">
      <dgm:prSet presAssocID="{36B1BF7E-3A93-4DCC-99E0-2CEEE4D383A2}" presName="horz1" presStyleCnt="0"/>
      <dgm:spPr/>
    </dgm:pt>
    <dgm:pt modelId="{FA69BEB4-80CE-47DB-9121-27162CCE075C}" type="pres">
      <dgm:prSet presAssocID="{36B1BF7E-3A93-4DCC-99E0-2CEEE4D383A2}" presName="tx1" presStyleLbl="revTx" presStyleIdx="0" presStyleCnt="8"/>
      <dgm:spPr/>
    </dgm:pt>
    <dgm:pt modelId="{EE9B927F-B3F6-4738-A5A5-9AA925E3035A}" type="pres">
      <dgm:prSet presAssocID="{36B1BF7E-3A93-4DCC-99E0-2CEEE4D383A2}" presName="vert1" presStyleCnt="0"/>
      <dgm:spPr/>
    </dgm:pt>
    <dgm:pt modelId="{9145EABB-B2F6-4BE2-988B-DDC0933EEA63}" type="pres">
      <dgm:prSet presAssocID="{FEF2140D-2241-4EA1-8A46-5A3AD139495E}" presName="thickLine" presStyleLbl="alignNode1" presStyleIdx="1" presStyleCnt="8"/>
      <dgm:spPr/>
    </dgm:pt>
    <dgm:pt modelId="{BB96A05A-2344-42CC-939B-B73626FC9E15}" type="pres">
      <dgm:prSet presAssocID="{FEF2140D-2241-4EA1-8A46-5A3AD139495E}" presName="horz1" presStyleCnt="0"/>
      <dgm:spPr/>
    </dgm:pt>
    <dgm:pt modelId="{8B8A3AAC-B5D5-4B38-B9CF-2021FCD293EA}" type="pres">
      <dgm:prSet presAssocID="{FEF2140D-2241-4EA1-8A46-5A3AD139495E}" presName="tx1" presStyleLbl="revTx" presStyleIdx="1" presStyleCnt="8"/>
      <dgm:spPr/>
    </dgm:pt>
    <dgm:pt modelId="{272D76FE-F293-4A80-894F-94D7CF4EB4E3}" type="pres">
      <dgm:prSet presAssocID="{FEF2140D-2241-4EA1-8A46-5A3AD139495E}" presName="vert1" presStyleCnt="0"/>
      <dgm:spPr/>
    </dgm:pt>
    <dgm:pt modelId="{6F50ECA5-F462-4911-9BF6-E708C44DEECD}" type="pres">
      <dgm:prSet presAssocID="{1B0B88FE-B5A3-4FA3-B52E-0FBDD6AA3EE2}" presName="thickLine" presStyleLbl="alignNode1" presStyleIdx="2" presStyleCnt="8"/>
      <dgm:spPr/>
    </dgm:pt>
    <dgm:pt modelId="{CD4F9B48-5C24-4D2C-8215-4ECE2B8D25CA}" type="pres">
      <dgm:prSet presAssocID="{1B0B88FE-B5A3-4FA3-B52E-0FBDD6AA3EE2}" presName="horz1" presStyleCnt="0"/>
      <dgm:spPr/>
    </dgm:pt>
    <dgm:pt modelId="{CED7F1DA-939B-4E0F-AB06-4200A110C28F}" type="pres">
      <dgm:prSet presAssocID="{1B0B88FE-B5A3-4FA3-B52E-0FBDD6AA3EE2}" presName="tx1" presStyleLbl="revTx" presStyleIdx="2" presStyleCnt="8"/>
      <dgm:spPr/>
    </dgm:pt>
    <dgm:pt modelId="{C88F820B-A20D-4641-851C-A570CD2ACAB8}" type="pres">
      <dgm:prSet presAssocID="{1B0B88FE-B5A3-4FA3-B52E-0FBDD6AA3EE2}" presName="vert1" presStyleCnt="0"/>
      <dgm:spPr/>
    </dgm:pt>
    <dgm:pt modelId="{2F619EE7-5EAA-46E5-8210-842EBCE26D34}" type="pres">
      <dgm:prSet presAssocID="{20345325-8FAE-4BDF-A9BC-049CB3D38D77}" presName="thickLine" presStyleLbl="alignNode1" presStyleIdx="3" presStyleCnt="8"/>
      <dgm:spPr/>
    </dgm:pt>
    <dgm:pt modelId="{1914221D-BDB5-4DA5-87F3-702D5C55A5E4}" type="pres">
      <dgm:prSet presAssocID="{20345325-8FAE-4BDF-A9BC-049CB3D38D77}" presName="horz1" presStyleCnt="0"/>
      <dgm:spPr/>
    </dgm:pt>
    <dgm:pt modelId="{3B8AD588-3FEB-49BF-8C96-1991A005F45F}" type="pres">
      <dgm:prSet presAssocID="{20345325-8FAE-4BDF-A9BC-049CB3D38D77}" presName="tx1" presStyleLbl="revTx" presStyleIdx="3" presStyleCnt="8"/>
      <dgm:spPr/>
    </dgm:pt>
    <dgm:pt modelId="{343E94EC-4B78-4DF2-95C1-2D69CE9C4C16}" type="pres">
      <dgm:prSet presAssocID="{20345325-8FAE-4BDF-A9BC-049CB3D38D77}" presName="vert1" presStyleCnt="0"/>
      <dgm:spPr/>
    </dgm:pt>
    <dgm:pt modelId="{9EFD9317-CDBE-45B4-8707-DB5917AE6E0B}" type="pres">
      <dgm:prSet presAssocID="{D41FD059-6F7B-48EF-9A22-D532F2747058}" presName="thickLine" presStyleLbl="alignNode1" presStyleIdx="4" presStyleCnt="8"/>
      <dgm:spPr/>
    </dgm:pt>
    <dgm:pt modelId="{08A3CB5C-446C-4CD5-BEF2-1674EAEBEDF5}" type="pres">
      <dgm:prSet presAssocID="{D41FD059-6F7B-48EF-9A22-D532F2747058}" presName="horz1" presStyleCnt="0"/>
      <dgm:spPr/>
    </dgm:pt>
    <dgm:pt modelId="{43623720-0209-480E-B5C7-14431BC7CFD0}" type="pres">
      <dgm:prSet presAssocID="{D41FD059-6F7B-48EF-9A22-D532F2747058}" presName="tx1" presStyleLbl="revTx" presStyleIdx="4" presStyleCnt="8"/>
      <dgm:spPr/>
    </dgm:pt>
    <dgm:pt modelId="{29D3E37D-DDCC-4D90-95E5-FCEC1C15CE0C}" type="pres">
      <dgm:prSet presAssocID="{D41FD059-6F7B-48EF-9A22-D532F2747058}" presName="vert1" presStyleCnt="0"/>
      <dgm:spPr/>
    </dgm:pt>
    <dgm:pt modelId="{1595D166-E8B8-43B6-8DB2-FE5E246FAF86}" type="pres">
      <dgm:prSet presAssocID="{99D77035-F4A8-4C93-8BE1-4EBB94C24D84}" presName="thickLine" presStyleLbl="alignNode1" presStyleIdx="5" presStyleCnt="8"/>
      <dgm:spPr/>
    </dgm:pt>
    <dgm:pt modelId="{E71E3612-3059-4FCC-A0F3-5A44CBC92C8C}" type="pres">
      <dgm:prSet presAssocID="{99D77035-F4A8-4C93-8BE1-4EBB94C24D84}" presName="horz1" presStyleCnt="0"/>
      <dgm:spPr/>
    </dgm:pt>
    <dgm:pt modelId="{3819F8DA-EC15-487E-9EFA-633318DB7BDD}" type="pres">
      <dgm:prSet presAssocID="{99D77035-F4A8-4C93-8BE1-4EBB94C24D84}" presName="tx1" presStyleLbl="revTx" presStyleIdx="5" presStyleCnt="8"/>
      <dgm:spPr/>
    </dgm:pt>
    <dgm:pt modelId="{5183304E-B0E2-48AE-92AE-4562B1CDD269}" type="pres">
      <dgm:prSet presAssocID="{99D77035-F4A8-4C93-8BE1-4EBB94C24D84}" presName="vert1" presStyleCnt="0"/>
      <dgm:spPr/>
    </dgm:pt>
    <dgm:pt modelId="{0A434288-4350-4B13-ACF5-966EA59B7A74}" type="pres">
      <dgm:prSet presAssocID="{B6446447-9803-46FA-A46C-B89BFD9D29DD}" presName="thickLine" presStyleLbl="alignNode1" presStyleIdx="6" presStyleCnt="8"/>
      <dgm:spPr/>
    </dgm:pt>
    <dgm:pt modelId="{44B38D1C-40F2-4ED9-802A-8F4DC3F514EE}" type="pres">
      <dgm:prSet presAssocID="{B6446447-9803-46FA-A46C-B89BFD9D29DD}" presName="horz1" presStyleCnt="0"/>
      <dgm:spPr/>
    </dgm:pt>
    <dgm:pt modelId="{DAF82B3C-3B07-4869-877A-EB4CE90D2B6C}" type="pres">
      <dgm:prSet presAssocID="{B6446447-9803-46FA-A46C-B89BFD9D29DD}" presName="tx1" presStyleLbl="revTx" presStyleIdx="6" presStyleCnt="8"/>
      <dgm:spPr/>
    </dgm:pt>
    <dgm:pt modelId="{C16ACC69-EE0C-4947-89BF-F27004DE9D28}" type="pres">
      <dgm:prSet presAssocID="{B6446447-9803-46FA-A46C-B89BFD9D29DD}" presName="vert1" presStyleCnt="0"/>
      <dgm:spPr/>
    </dgm:pt>
    <dgm:pt modelId="{FA13B745-530D-4D8B-A7DD-7B34843039F8}" type="pres">
      <dgm:prSet presAssocID="{C8C56E32-659A-4108-9384-B6BA722A3C3B}" presName="thickLine" presStyleLbl="alignNode1" presStyleIdx="7" presStyleCnt="8"/>
      <dgm:spPr/>
    </dgm:pt>
    <dgm:pt modelId="{36294FE8-D97E-42DC-A086-CA43001CF4D1}" type="pres">
      <dgm:prSet presAssocID="{C8C56E32-659A-4108-9384-B6BA722A3C3B}" presName="horz1" presStyleCnt="0"/>
      <dgm:spPr/>
    </dgm:pt>
    <dgm:pt modelId="{9D953B01-287A-417C-9E40-1850A4A31E0E}" type="pres">
      <dgm:prSet presAssocID="{C8C56E32-659A-4108-9384-B6BA722A3C3B}" presName="tx1" presStyleLbl="revTx" presStyleIdx="7" presStyleCnt="8"/>
      <dgm:spPr/>
    </dgm:pt>
    <dgm:pt modelId="{BCD8DF6D-3149-4E47-9712-BB417C78B2A1}" type="pres">
      <dgm:prSet presAssocID="{C8C56E32-659A-4108-9384-B6BA722A3C3B}" presName="vert1" presStyleCnt="0"/>
      <dgm:spPr/>
    </dgm:pt>
  </dgm:ptLst>
  <dgm:cxnLst>
    <dgm:cxn modelId="{25322805-3BD1-499F-A6DB-6707BAD8ED68}" type="presOf" srcId="{1B0B88FE-B5A3-4FA3-B52E-0FBDD6AA3EE2}" destId="{CED7F1DA-939B-4E0F-AB06-4200A110C28F}" srcOrd="0" destOrd="0" presId="urn:microsoft.com/office/officeart/2008/layout/LinedList"/>
    <dgm:cxn modelId="{D1D52335-0067-4A64-B5FC-E727F9918831}" srcId="{878E85AF-5558-4430-BCB9-654366F9BC20}" destId="{FEF2140D-2241-4EA1-8A46-5A3AD139495E}" srcOrd="1" destOrd="0" parTransId="{2FC64044-6C3E-4FB9-A392-E11DB658A560}" sibTransId="{52040D57-4003-4141-ACB9-8746BB989E90}"/>
    <dgm:cxn modelId="{B7EA6735-1E83-4BD2-A375-2C7484FB352C}" srcId="{878E85AF-5558-4430-BCB9-654366F9BC20}" destId="{C8C56E32-659A-4108-9384-B6BA722A3C3B}" srcOrd="7" destOrd="0" parTransId="{528F0896-40CD-47FA-ACB6-7CDC844DE387}" sibTransId="{4A19F6D2-5F0E-4F10-B154-D7260BFB29DA}"/>
    <dgm:cxn modelId="{149B2A37-6B48-4FFA-9CC8-ED03A1352C37}" srcId="{878E85AF-5558-4430-BCB9-654366F9BC20}" destId="{B6446447-9803-46FA-A46C-B89BFD9D29DD}" srcOrd="6" destOrd="0" parTransId="{16E9B027-D490-49DE-96BF-410F6E40A3B7}" sibTransId="{DAAE3F39-32A0-4B95-81C5-25D88FBC5B10}"/>
    <dgm:cxn modelId="{67EB793C-D396-4362-B19A-40FCABE7EC16}" type="presOf" srcId="{B6446447-9803-46FA-A46C-B89BFD9D29DD}" destId="{DAF82B3C-3B07-4869-877A-EB4CE90D2B6C}" srcOrd="0" destOrd="0" presId="urn:microsoft.com/office/officeart/2008/layout/LinedList"/>
    <dgm:cxn modelId="{63F0B665-45CD-4943-A3E5-B134934364FF}" type="presOf" srcId="{D41FD059-6F7B-48EF-9A22-D532F2747058}" destId="{43623720-0209-480E-B5C7-14431BC7CFD0}" srcOrd="0" destOrd="0" presId="urn:microsoft.com/office/officeart/2008/layout/LinedList"/>
    <dgm:cxn modelId="{89807D47-5458-490E-B575-5F4FD17D207B}" type="presOf" srcId="{878E85AF-5558-4430-BCB9-654366F9BC20}" destId="{3FFC8276-E461-4AF1-B6D4-52F0EF934746}" srcOrd="0" destOrd="0" presId="urn:microsoft.com/office/officeart/2008/layout/LinedList"/>
    <dgm:cxn modelId="{B31DF647-092E-4A91-A226-C6054197D426}" srcId="{878E85AF-5558-4430-BCB9-654366F9BC20}" destId="{D41FD059-6F7B-48EF-9A22-D532F2747058}" srcOrd="4" destOrd="0" parTransId="{FE92C13F-59F5-4AE0-AF89-212B662CF7A0}" sibTransId="{2A71B890-95AB-4949-9179-AFB6171F3293}"/>
    <dgm:cxn modelId="{B64FA081-A0EA-46F8-A1BA-AF7B83AB066C}" type="presOf" srcId="{99D77035-F4A8-4C93-8BE1-4EBB94C24D84}" destId="{3819F8DA-EC15-487E-9EFA-633318DB7BDD}" srcOrd="0" destOrd="0" presId="urn:microsoft.com/office/officeart/2008/layout/LinedList"/>
    <dgm:cxn modelId="{600DB58A-B21E-48D6-84F6-4F485C3F3F92}" type="presOf" srcId="{36B1BF7E-3A93-4DCC-99E0-2CEEE4D383A2}" destId="{FA69BEB4-80CE-47DB-9121-27162CCE075C}" srcOrd="0" destOrd="0" presId="urn:microsoft.com/office/officeart/2008/layout/LinedList"/>
    <dgm:cxn modelId="{96AA6B8E-66C3-4BA8-8045-CFE33FBC5130}" srcId="{878E85AF-5558-4430-BCB9-654366F9BC20}" destId="{36B1BF7E-3A93-4DCC-99E0-2CEEE4D383A2}" srcOrd="0" destOrd="0" parTransId="{4D72B673-6EE5-466F-BE9E-B5ECF0267705}" sibTransId="{B9CF35B6-2D27-47F0-8586-506F4CEF7DDB}"/>
    <dgm:cxn modelId="{61499E99-1EC5-4C03-81F2-3008D21BE168}" type="presOf" srcId="{FEF2140D-2241-4EA1-8A46-5A3AD139495E}" destId="{8B8A3AAC-B5D5-4B38-B9CF-2021FCD293EA}" srcOrd="0" destOrd="0" presId="urn:microsoft.com/office/officeart/2008/layout/LinedList"/>
    <dgm:cxn modelId="{8DF334A5-F3BA-4C0D-ABDE-755FCFCDAB1E}" type="presOf" srcId="{C8C56E32-659A-4108-9384-B6BA722A3C3B}" destId="{9D953B01-287A-417C-9E40-1850A4A31E0E}" srcOrd="0" destOrd="0" presId="urn:microsoft.com/office/officeart/2008/layout/LinedList"/>
    <dgm:cxn modelId="{5768ABAE-3A7D-46EC-B893-035E01FD67B1}" srcId="{878E85AF-5558-4430-BCB9-654366F9BC20}" destId="{1B0B88FE-B5A3-4FA3-B52E-0FBDD6AA3EE2}" srcOrd="2" destOrd="0" parTransId="{D15EB812-4F25-456D-89E6-D625417A4819}" sibTransId="{F4A3921F-97B8-4437-AFC1-D8225489A3DA}"/>
    <dgm:cxn modelId="{DCEABAC0-A2E9-46EF-9479-4F9344D2DA47}" srcId="{878E85AF-5558-4430-BCB9-654366F9BC20}" destId="{99D77035-F4A8-4C93-8BE1-4EBB94C24D84}" srcOrd="5" destOrd="0" parTransId="{7A6E19F4-F221-45F6-B0F3-5E560512D886}" sibTransId="{B24C3841-3D6A-44FD-9563-055548EDC663}"/>
    <dgm:cxn modelId="{FBE49EC2-91A5-4BE6-BA5B-DBEF18D82C78}" type="presOf" srcId="{20345325-8FAE-4BDF-A9BC-049CB3D38D77}" destId="{3B8AD588-3FEB-49BF-8C96-1991A005F45F}" srcOrd="0" destOrd="0" presId="urn:microsoft.com/office/officeart/2008/layout/LinedList"/>
    <dgm:cxn modelId="{DE1E31EF-E7E4-45BA-8D23-07A071D3C8A2}" srcId="{878E85AF-5558-4430-BCB9-654366F9BC20}" destId="{20345325-8FAE-4BDF-A9BC-049CB3D38D77}" srcOrd="3" destOrd="0" parTransId="{E918F8FD-CA74-440F-9D21-2FD1177CC412}" sibTransId="{E05A5324-345F-4395-A3CB-C3448BC1AAEA}"/>
    <dgm:cxn modelId="{D6FEDB07-7FF2-42C5-BC19-DB73B80EB42A}" type="presParOf" srcId="{3FFC8276-E461-4AF1-B6D4-52F0EF934746}" destId="{4509446A-08BC-4F2F-B4EC-7110EF46E452}" srcOrd="0" destOrd="0" presId="urn:microsoft.com/office/officeart/2008/layout/LinedList"/>
    <dgm:cxn modelId="{92AEA6C9-49C1-4B65-9544-E0C5F017B892}" type="presParOf" srcId="{3FFC8276-E461-4AF1-B6D4-52F0EF934746}" destId="{39B61B8A-CE28-421F-84A9-757800BAADC8}" srcOrd="1" destOrd="0" presId="urn:microsoft.com/office/officeart/2008/layout/LinedList"/>
    <dgm:cxn modelId="{FB53395E-0D72-4E55-8547-98DE5471FBCF}" type="presParOf" srcId="{39B61B8A-CE28-421F-84A9-757800BAADC8}" destId="{FA69BEB4-80CE-47DB-9121-27162CCE075C}" srcOrd="0" destOrd="0" presId="urn:microsoft.com/office/officeart/2008/layout/LinedList"/>
    <dgm:cxn modelId="{4748482E-1552-4748-9FB9-0B00EEAE9BC8}" type="presParOf" srcId="{39B61B8A-CE28-421F-84A9-757800BAADC8}" destId="{EE9B927F-B3F6-4738-A5A5-9AA925E3035A}" srcOrd="1" destOrd="0" presId="urn:microsoft.com/office/officeart/2008/layout/LinedList"/>
    <dgm:cxn modelId="{47A90766-13BB-45DB-9ECE-8A83E90FC763}" type="presParOf" srcId="{3FFC8276-E461-4AF1-B6D4-52F0EF934746}" destId="{9145EABB-B2F6-4BE2-988B-DDC0933EEA63}" srcOrd="2" destOrd="0" presId="urn:microsoft.com/office/officeart/2008/layout/LinedList"/>
    <dgm:cxn modelId="{10A43143-7FC8-4E95-899B-BCD2FCEBB44D}" type="presParOf" srcId="{3FFC8276-E461-4AF1-B6D4-52F0EF934746}" destId="{BB96A05A-2344-42CC-939B-B73626FC9E15}" srcOrd="3" destOrd="0" presId="urn:microsoft.com/office/officeart/2008/layout/LinedList"/>
    <dgm:cxn modelId="{F0753FB8-F157-4817-B19C-BF3852ADD8A3}" type="presParOf" srcId="{BB96A05A-2344-42CC-939B-B73626FC9E15}" destId="{8B8A3AAC-B5D5-4B38-B9CF-2021FCD293EA}" srcOrd="0" destOrd="0" presId="urn:microsoft.com/office/officeart/2008/layout/LinedList"/>
    <dgm:cxn modelId="{41FF1F29-E56F-4A67-885F-7064B21A4C36}" type="presParOf" srcId="{BB96A05A-2344-42CC-939B-B73626FC9E15}" destId="{272D76FE-F293-4A80-894F-94D7CF4EB4E3}" srcOrd="1" destOrd="0" presId="urn:microsoft.com/office/officeart/2008/layout/LinedList"/>
    <dgm:cxn modelId="{671BF0B0-FBBF-452E-AA72-05F4CAD74A44}" type="presParOf" srcId="{3FFC8276-E461-4AF1-B6D4-52F0EF934746}" destId="{6F50ECA5-F462-4911-9BF6-E708C44DEECD}" srcOrd="4" destOrd="0" presId="urn:microsoft.com/office/officeart/2008/layout/LinedList"/>
    <dgm:cxn modelId="{7F18DD1B-F660-45E6-86B1-3F89A167A3C6}" type="presParOf" srcId="{3FFC8276-E461-4AF1-B6D4-52F0EF934746}" destId="{CD4F9B48-5C24-4D2C-8215-4ECE2B8D25CA}" srcOrd="5" destOrd="0" presId="urn:microsoft.com/office/officeart/2008/layout/LinedList"/>
    <dgm:cxn modelId="{AD8F7DDE-9594-4240-BCC7-FA86B39A620A}" type="presParOf" srcId="{CD4F9B48-5C24-4D2C-8215-4ECE2B8D25CA}" destId="{CED7F1DA-939B-4E0F-AB06-4200A110C28F}" srcOrd="0" destOrd="0" presId="urn:microsoft.com/office/officeart/2008/layout/LinedList"/>
    <dgm:cxn modelId="{D59416B3-F186-4B2D-8158-CCE756BD5633}" type="presParOf" srcId="{CD4F9B48-5C24-4D2C-8215-4ECE2B8D25CA}" destId="{C88F820B-A20D-4641-851C-A570CD2ACAB8}" srcOrd="1" destOrd="0" presId="urn:microsoft.com/office/officeart/2008/layout/LinedList"/>
    <dgm:cxn modelId="{619DD5DB-3168-4093-8707-64D62463DA96}" type="presParOf" srcId="{3FFC8276-E461-4AF1-B6D4-52F0EF934746}" destId="{2F619EE7-5EAA-46E5-8210-842EBCE26D34}" srcOrd="6" destOrd="0" presId="urn:microsoft.com/office/officeart/2008/layout/LinedList"/>
    <dgm:cxn modelId="{C3A3689E-9E49-4A8E-8120-0E333CE86BE5}" type="presParOf" srcId="{3FFC8276-E461-4AF1-B6D4-52F0EF934746}" destId="{1914221D-BDB5-4DA5-87F3-702D5C55A5E4}" srcOrd="7" destOrd="0" presId="urn:microsoft.com/office/officeart/2008/layout/LinedList"/>
    <dgm:cxn modelId="{15AA0992-47C4-4B5A-BC75-A9C5B3B5682A}" type="presParOf" srcId="{1914221D-BDB5-4DA5-87F3-702D5C55A5E4}" destId="{3B8AD588-3FEB-49BF-8C96-1991A005F45F}" srcOrd="0" destOrd="0" presId="urn:microsoft.com/office/officeart/2008/layout/LinedList"/>
    <dgm:cxn modelId="{B0652F78-5999-466A-AE9F-26AED99C7052}" type="presParOf" srcId="{1914221D-BDB5-4DA5-87F3-702D5C55A5E4}" destId="{343E94EC-4B78-4DF2-95C1-2D69CE9C4C16}" srcOrd="1" destOrd="0" presId="urn:microsoft.com/office/officeart/2008/layout/LinedList"/>
    <dgm:cxn modelId="{BB101768-2106-4C8C-9B93-09BD5E2D1FAE}" type="presParOf" srcId="{3FFC8276-E461-4AF1-B6D4-52F0EF934746}" destId="{9EFD9317-CDBE-45B4-8707-DB5917AE6E0B}" srcOrd="8" destOrd="0" presId="urn:microsoft.com/office/officeart/2008/layout/LinedList"/>
    <dgm:cxn modelId="{C597A10F-1369-4618-997F-DF954E55B9DE}" type="presParOf" srcId="{3FFC8276-E461-4AF1-B6D4-52F0EF934746}" destId="{08A3CB5C-446C-4CD5-BEF2-1674EAEBEDF5}" srcOrd="9" destOrd="0" presId="urn:microsoft.com/office/officeart/2008/layout/LinedList"/>
    <dgm:cxn modelId="{CF20C771-8B64-499E-B5BE-F1121C319596}" type="presParOf" srcId="{08A3CB5C-446C-4CD5-BEF2-1674EAEBEDF5}" destId="{43623720-0209-480E-B5C7-14431BC7CFD0}" srcOrd="0" destOrd="0" presId="urn:microsoft.com/office/officeart/2008/layout/LinedList"/>
    <dgm:cxn modelId="{265470AB-A70C-45BB-90DE-FCEE88AD2FF8}" type="presParOf" srcId="{08A3CB5C-446C-4CD5-BEF2-1674EAEBEDF5}" destId="{29D3E37D-DDCC-4D90-95E5-FCEC1C15CE0C}" srcOrd="1" destOrd="0" presId="urn:microsoft.com/office/officeart/2008/layout/LinedList"/>
    <dgm:cxn modelId="{1ADF6F7C-C956-4BA9-8C6C-0EE2AC3C843D}" type="presParOf" srcId="{3FFC8276-E461-4AF1-B6D4-52F0EF934746}" destId="{1595D166-E8B8-43B6-8DB2-FE5E246FAF86}" srcOrd="10" destOrd="0" presId="urn:microsoft.com/office/officeart/2008/layout/LinedList"/>
    <dgm:cxn modelId="{36449A79-6566-4479-A3F6-3AA90EA6FEF6}" type="presParOf" srcId="{3FFC8276-E461-4AF1-B6D4-52F0EF934746}" destId="{E71E3612-3059-4FCC-A0F3-5A44CBC92C8C}" srcOrd="11" destOrd="0" presId="urn:microsoft.com/office/officeart/2008/layout/LinedList"/>
    <dgm:cxn modelId="{4F1C4AB5-8247-4063-B606-B43D1AD0682F}" type="presParOf" srcId="{E71E3612-3059-4FCC-A0F3-5A44CBC92C8C}" destId="{3819F8DA-EC15-487E-9EFA-633318DB7BDD}" srcOrd="0" destOrd="0" presId="urn:microsoft.com/office/officeart/2008/layout/LinedList"/>
    <dgm:cxn modelId="{B57F203E-4488-44E9-8C73-1D583A166F07}" type="presParOf" srcId="{E71E3612-3059-4FCC-A0F3-5A44CBC92C8C}" destId="{5183304E-B0E2-48AE-92AE-4562B1CDD269}" srcOrd="1" destOrd="0" presId="urn:microsoft.com/office/officeart/2008/layout/LinedList"/>
    <dgm:cxn modelId="{2BEAC71B-4423-4651-A1DD-D8DAC90180F4}" type="presParOf" srcId="{3FFC8276-E461-4AF1-B6D4-52F0EF934746}" destId="{0A434288-4350-4B13-ACF5-966EA59B7A74}" srcOrd="12" destOrd="0" presId="urn:microsoft.com/office/officeart/2008/layout/LinedList"/>
    <dgm:cxn modelId="{2ED7DBC2-A29D-4D81-AAB7-1813FFD6F5DC}" type="presParOf" srcId="{3FFC8276-E461-4AF1-B6D4-52F0EF934746}" destId="{44B38D1C-40F2-4ED9-802A-8F4DC3F514EE}" srcOrd="13" destOrd="0" presId="urn:microsoft.com/office/officeart/2008/layout/LinedList"/>
    <dgm:cxn modelId="{0AD97CFF-1D5B-4868-ACAE-9A520200466B}" type="presParOf" srcId="{44B38D1C-40F2-4ED9-802A-8F4DC3F514EE}" destId="{DAF82B3C-3B07-4869-877A-EB4CE90D2B6C}" srcOrd="0" destOrd="0" presId="urn:microsoft.com/office/officeart/2008/layout/LinedList"/>
    <dgm:cxn modelId="{EC6B9438-1D94-44CA-89B0-E488FF1890CA}" type="presParOf" srcId="{44B38D1C-40F2-4ED9-802A-8F4DC3F514EE}" destId="{C16ACC69-EE0C-4947-89BF-F27004DE9D28}" srcOrd="1" destOrd="0" presId="urn:microsoft.com/office/officeart/2008/layout/LinedList"/>
    <dgm:cxn modelId="{A941AB83-753F-472F-AB78-B53AB1FDD808}" type="presParOf" srcId="{3FFC8276-E461-4AF1-B6D4-52F0EF934746}" destId="{FA13B745-530D-4D8B-A7DD-7B34843039F8}" srcOrd="14" destOrd="0" presId="urn:microsoft.com/office/officeart/2008/layout/LinedList"/>
    <dgm:cxn modelId="{8C2EACF4-2E74-49A5-B111-399C567D56D7}" type="presParOf" srcId="{3FFC8276-E461-4AF1-B6D4-52F0EF934746}" destId="{36294FE8-D97E-42DC-A086-CA43001CF4D1}" srcOrd="15" destOrd="0" presId="urn:microsoft.com/office/officeart/2008/layout/LinedList"/>
    <dgm:cxn modelId="{5E2A2A6F-67DA-4727-BBEF-E601E4BCDA21}" type="presParOf" srcId="{36294FE8-D97E-42DC-A086-CA43001CF4D1}" destId="{9D953B01-287A-417C-9E40-1850A4A31E0E}" srcOrd="0" destOrd="0" presId="urn:microsoft.com/office/officeart/2008/layout/LinedList"/>
    <dgm:cxn modelId="{F8D6F5C1-507E-4E20-A7C3-EAB823190A50}" type="presParOf" srcId="{36294FE8-D97E-42DC-A086-CA43001CF4D1}" destId="{BCD8DF6D-3149-4E47-9712-BB417C78B2A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9446A-08BC-4F2F-B4EC-7110EF46E452}">
      <dsp:nvSpPr>
        <dsp:cNvPr id="0" name=""/>
        <dsp:cNvSpPr/>
      </dsp:nvSpPr>
      <dsp:spPr>
        <a:xfrm>
          <a:off x="0" y="0"/>
          <a:ext cx="617340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69BEB4-80CE-47DB-9121-27162CCE075C}">
      <dsp:nvSpPr>
        <dsp:cNvPr id="0" name=""/>
        <dsp:cNvSpPr/>
      </dsp:nvSpPr>
      <dsp:spPr>
        <a:xfrm>
          <a:off x="0" y="0"/>
          <a:ext cx="6173409" cy="730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•Introduction</a:t>
          </a:r>
        </a:p>
      </dsp:txBody>
      <dsp:txXfrm>
        <a:off x="0" y="0"/>
        <a:ext cx="6173409" cy="730433"/>
      </dsp:txXfrm>
    </dsp:sp>
    <dsp:sp modelId="{9145EABB-B2F6-4BE2-988B-DDC0933EEA63}">
      <dsp:nvSpPr>
        <dsp:cNvPr id="0" name=""/>
        <dsp:cNvSpPr/>
      </dsp:nvSpPr>
      <dsp:spPr>
        <a:xfrm>
          <a:off x="0" y="730433"/>
          <a:ext cx="6173409" cy="0"/>
        </a:xfrm>
        <a:prstGeom prst="line">
          <a:avLst/>
        </a:prstGeom>
        <a:solidFill>
          <a:schemeClr val="accent2">
            <a:hueOff val="-57135"/>
            <a:satOff val="-6912"/>
            <a:lumOff val="-3305"/>
            <a:alphaOff val="0"/>
          </a:schemeClr>
        </a:solidFill>
        <a:ln w="12700" cap="flat" cmpd="sng" algn="ctr">
          <a:solidFill>
            <a:schemeClr val="accent2">
              <a:hueOff val="-57135"/>
              <a:satOff val="-6912"/>
              <a:lumOff val="-33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8A3AAC-B5D5-4B38-B9CF-2021FCD293EA}">
      <dsp:nvSpPr>
        <dsp:cNvPr id="0" name=""/>
        <dsp:cNvSpPr/>
      </dsp:nvSpPr>
      <dsp:spPr>
        <a:xfrm>
          <a:off x="0" y="730433"/>
          <a:ext cx="6173409" cy="730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•Motivation</a:t>
          </a:r>
        </a:p>
      </dsp:txBody>
      <dsp:txXfrm>
        <a:off x="0" y="730433"/>
        <a:ext cx="6173409" cy="730433"/>
      </dsp:txXfrm>
    </dsp:sp>
    <dsp:sp modelId="{6F50ECA5-F462-4911-9BF6-E708C44DEECD}">
      <dsp:nvSpPr>
        <dsp:cNvPr id="0" name=""/>
        <dsp:cNvSpPr/>
      </dsp:nvSpPr>
      <dsp:spPr>
        <a:xfrm>
          <a:off x="0" y="1460867"/>
          <a:ext cx="6173409" cy="0"/>
        </a:xfrm>
        <a:prstGeom prst="line">
          <a:avLst/>
        </a:prstGeom>
        <a:solidFill>
          <a:schemeClr val="accent2">
            <a:hueOff val="-114270"/>
            <a:satOff val="-13824"/>
            <a:lumOff val="-6611"/>
            <a:alphaOff val="0"/>
          </a:schemeClr>
        </a:solidFill>
        <a:ln w="12700" cap="flat" cmpd="sng" algn="ctr">
          <a:solidFill>
            <a:schemeClr val="accent2">
              <a:hueOff val="-114270"/>
              <a:satOff val="-13824"/>
              <a:lumOff val="-661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D7F1DA-939B-4E0F-AB06-4200A110C28F}">
      <dsp:nvSpPr>
        <dsp:cNvPr id="0" name=""/>
        <dsp:cNvSpPr/>
      </dsp:nvSpPr>
      <dsp:spPr>
        <a:xfrm>
          <a:off x="0" y="1460867"/>
          <a:ext cx="6173409" cy="730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•Literature Survey</a:t>
          </a:r>
        </a:p>
      </dsp:txBody>
      <dsp:txXfrm>
        <a:off x="0" y="1460867"/>
        <a:ext cx="6173409" cy="730433"/>
      </dsp:txXfrm>
    </dsp:sp>
    <dsp:sp modelId="{2F619EE7-5EAA-46E5-8210-842EBCE26D34}">
      <dsp:nvSpPr>
        <dsp:cNvPr id="0" name=""/>
        <dsp:cNvSpPr/>
      </dsp:nvSpPr>
      <dsp:spPr>
        <a:xfrm>
          <a:off x="0" y="2191300"/>
          <a:ext cx="6173409" cy="0"/>
        </a:xfrm>
        <a:prstGeom prst="line">
          <a:avLst/>
        </a:prstGeom>
        <a:solidFill>
          <a:schemeClr val="accent2">
            <a:hueOff val="-171405"/>
            <a:satOff val="-20736"/>
            <a:lumOff val="-9916"/>
            <a:alphaOff val="0"/>
          </a:schemeClr>
        </a:solidFill>
        <a:ln w="12700" cap="flat" cmpd="sng" algn="ctr">
          <a:solidFill>
            <a:schemeClr val="accent2">
              <a:hueOff val="-171405"/>
              <a:satOff val="-20736"/>
              <a:lumOff val="-991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8AD588-3FEB-49BF-8C96-1991A005F45F}">
      <dsp:nvSpPr>
        <dsp:cNvPr id="0" name=""/>
        <dsp:cNvSpPr/>
      </dsp:nvSpPr>
      <dsp:spPr>
        <a:xfrm>
          <a:off x="0" y="2191300"/>
          <a:ext cx="6173409" cy="730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•Summary/findings of Literature Survey</a:t>
          </a:r>
        </a:p>
      </dsp:txBody>
      <dsp:txXfrm>
        <a:off x="0" y="2191300"/>
        <a:ext cx="6173409" cy="730433"/>
      </dsp:txXfrm>
    </dsp:sp>
    <dsp:sp modelId="{9EFD9317-CDBE-45B4-8707-DB5917AE6E0B}">
      <dsp:nvSpPr>
        <dsp:cNvPr id="0" name=""/>
        <dsp:cNvSpPr/>
      </dsp:nvSpPr>
      <dsp:spPr>
        <a:xfrm>
          <a:off x="0" y="2921734"/>
          <a:ext cx="6173409" cy="0"/>
        </a:xfrm>
        <a:prstGeom prst="line">
          <a:avLst/>
        </a:prstGeom>
        <a:solidFill>
          <a:schemeClr val="accent2">
            <a:hueOff val="-228540"/>
            <a:satOff val="-27649"/>
            <a:lumOff val="-13221"/>
            <a:alphaOff val="0"/>
          </a:schemeClr>
        </a:solidFill>
        <a:ln w="12700" cap="flat" cmpd="sng" algn="ctr">
          <a:solidFill>
            <a:schemeClr val="accent2">
              <a:hueOff val="-228540"/>
              <a:satOff val="-27649"/>
              <a:lumOff val="-132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623720-0209-480E-B5C7-14431BC7CFD0}">
      <dsp:nvSpPr>
        <dsp:cNvPr id="0" name=""/>
        <dsp:cNvSpPr/>
      </dsp:nvSpPr>
      <dsp:spPr>
        <a:xfrm>
          <a:off x="0" y="2921734"/>
          <a:ext cx="6173409" cy="730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•Objectives</a:t>
          </a:r>
        </a:p>
      </dsp:txBody>
      <dsp:txXfrm>
        <a:off x="0" y="2921734"/>
        <a:ext cx="6173409" cy="730433"/>
      </dsp:txXfrm>
    </dsp:sp>
    <dsp:sp modelId="{1595D166-E8B8-43B6-8DB2-FE5E246FAF86}">
      <dsp:nvSpPr>
        <dsp:cNvPr id="0" name=""/>
        <dsp:cNvSpPr/>
      </dsp:nvSpPr>
      <dsp:spPr>
        <a:xfrm>
          <a:off x="0" y="3652168"/>
          <a:ext cx="6173409" cy="0"/>
        </a:xfrm>
        <a:prstGeom prst="line">
          <a:avLst/>
        </a:prstGeom>
        <a:solidFill>
          <a:schemeClr val="accent2">
            <a:hueOff val="-285675"/>
            <a:satOff val="-34561"/>
            <a:lumOff val="-16526"/>
            <a:alphaOff val="0"/>
          </a:schemeClr>
        </a:solidFill>
        <a:ln w="12700" cap="flat" cmpd="sng" algn="ctr">
          <a:solidFill>
            <a:schemeClr val="accent2">
              <a:hueOff val="-285675"/>
              <a:satOff val="-34561"/>
              <a:lumOff val="-165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19F8DA-EC15-487E-9EFA-633318DB7BDD}">
      <dsp:nvSpPr>
        <dsp:cNvPr id="0" name=""/>
        <dsp:cNvSpPr/>
      </dsp:nvSpPr>
      <dsp:spPr>
        <a:xfrm>
          <a:off x="0" y="3652168"/>
          <a:ext cx="6173409" cy="730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•Architecture of  System</a:t>
          </a:r>
        </a:p>
      </dsp:txBody>
      <dsp:txXfrm>
        <a:off x="0" y="3652168"/>
        <a:ext cx="6173409" cy="730433"/>
      </dsp:txXfrm>
    </dsp:sp>
    <dsp:sp modelId="{0A434288-4350-4B13-ACF5-966EA59B7A74}">
      <dsp:nvSpPr>
        <dsp:cNvPr id="0" name=""/>
        <dsp:cNvSpPr/>
      </dsp:nvSpPr>
      <dsp:spPr>
        <a:xfrm>
          <a:off x="0" y="4382601"/>
          <a:ext cx="6173409" cy="0"/>
        </a:xfrm>
        <a:prstGeom prst="line">
          <a:avLst/>
        </a:prstGeom>
        <a:solidFill>
          <a:schemeClr val="accent2">
            <a:hueOff val="-342810"/>
            <a:satOff val="-41473"/>
            <a:lumOff val="-19832"/>
            <a:alphaOff val="0"/>
          </a:schemeClr>
        </a:solidFill>
        <a:ln w="12700" cap="flat" cmpd="sng" algn="ctr">
          <a:solidFill>
            <a:schemeClr val="accent2">
              <a:hueOff val="-342810"/>
              <a:satOff val="-41473"/>
              <a:lumOff val="-1983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F82B3C-3B07-4869-877A-EB4CE90D2B6C}">
      <dsp:nvSpPr>
        <dsp:cNvPr id="0" name=""/>
        <dsp:cNvSpPr/>
      </dsp:nvSpPr>
      <dsp:spPr>
        <a:xfrm>
          <a:off x="0" y="4382601"/>
          <a:ext cx="6173409" cy="730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•Conclusion</a:t>
          </a:r>
        </a:p>
      </dsp:txBody>
      <dsp:txXfrm>
        <a:off x="0" y="4382601"/>
        <a:ext cx="6173409" cy="730433"/>
      </dsp:txXfrm>
    </dsp:sp>
    <dsp:sp modelId="{FA13B745-530D-4D8B-A7DD-7B34843039F8}">
      <dsp:nvSpPr>
        <dsp:cNvPr id="0" name=""/>
        <dsp:cNvSpPr/>
      </dsp:nvSpPr>
      <dsp:spPr>
        <a:xfrm>
          <a:off x="0" y="5113035"/>
          <a:ext cx="6173409" cy="0"/>
        </a:xfrm>
        <a:prstGeom prst="line">
          <a:avLst/>
        </a:prstGeom>
        <a:solidFill>
          <a:schemeClr val="accent2">
            <a:hueOff val="-399945"/>
            <a:satOff val="-48385"/>
            <a:lumOff val="-23137"/>
            <a:alphaOff val="0"/>
          </a:schemeClr>
        </a:solidFill>
        <a:ln w="12700" cap="flat" cmpd="sng" algn="ctr">
          <a:solidFill>
            <a:schemeClr val="accent2">
              <a:hueOff val="-399945"/>
              <a:satOff val="-48385"/>
              <a:lumOff val="-2313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953B01-287A-417C-9E40-1850A4A31E0E}">
      <dsp:nvSpPr>
        <dsp:cNvPr id="0" name=""/>
        <dsp:cNvSpPr/>
      </dsp:nvSpPr>
      <dsp:spPr>
        <a:xfrm>
          <a:off x="0" y="5113035"/>
          <a:ext cx="6173409" cy="730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•References</a:t>
          </a:r>
        </a:p>
      </dsp:txBody>
      <dsp:txXfrm>
        <a:off x="0" y="5113035"/>
        <a:ext cx="6173409" cy="73043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4/25/2025</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5709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65564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4385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433359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34968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13157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08431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85761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3919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22825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4/25/2025</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83789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4/25/2025</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410802429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87F28C0-7824-AA1A-54CA-B2A4D0573E38}"/>
              </a:ext>
            </a:extLst>
          </p:cNvPr>
          <p:cNvSpPr>
            <a:spLocks noGrp="1"/>
          </p:cNvSpPr>
          <p:nvPr>
            <p:ph type="subTitle" idx="1"/>
          </p:nvPr>
        </p:nvSpPr>
        <p:spPr>
          <a:xfrm>
            <a:off x="2309814" y="2571750"/>
            <a:ext cx="7786687" cy="4072746"/>
          </a:xfrm>
        </p:spPr>
        <p:txBody>
          <a:bodyPr vert="horz" lIns="91440" tIns="45720" rIns="91440" bIns="45720" rtlCol="0" anchor="t">
            <a:noAutofit/>
          </a:bodyPr>
          <a:lstStyle/>
          <a:p>
            <a:pPr>
              <a:spcBef>
                <a:spcPts val="580"/>
              </a:spcBef>
              <a:defRPr/>
            </a:pPr>
            <a:r>
              <a:rPr lang="en-US" sz="1400" b="1" dirty="0">
                <a:solidFill>
                  <a:schemeClr val="tx1"/>
                </a:solidFill>
                <a:latin typeface="Times New Roman"/>
                <a:cs typeface="Times New Roman"/>
              </a:rPr>
              <a:t>Presented By</a:t>
            </a:r>
          </a:p>
          <a:p>
            <a:pPr>
              <a:spcBef>
                <a:spcPts val="580"/>
              </a:spcBef>
              <a:defRPr/>
            </a:pPr>
            <a:r>
              <a:rPr lang="en-US" sz="1400" b="1" dirty="0">
                <a:latin typeface="Times New Roman"/>
                <a:cs typeface="Times New Roman"/>
              </a:rPr>
              <a:t>Mr. Swapnil Mahajan</a:t>
            </a:r>
          </a:p>
          <a:p>
            <a:pPr>
              <a:spcBef>
                <a:spcPts val="580"/>
              </a:spcBef>
              <a:defRPr/>
            </a:pPr>
            <a:r>
              <a:rPr lang="en-US" sz="1400" dirty="0">
                <a:solidFill>
                  <a:schemeClr val="tx1"/>
                </a:solidFill>
                <a:latin typeface="Times New Roman"/>
                <a:cs typeface="Times New Roman"/>
              </a:rPr>
              <a:t>TE (Computer Engineering)  </a:t>
            </a:r>
          </a:p>
          <a:p>
            <a:pPr>
              <a:spcBef>
                <a:spcPts val="580"/>
              </a:spcBef>
              <a:defRPr/>
            </a:pPr>
            <a:r>
              <a:rPr lang="en-US" sz="1400" dirty="0">
                <a:solidFill>
                  <a:schemeClr val="tx1"/>
                </a:solidFill>
                <a:latin typeface="Times New Roman"/>
                <a:cs typeface="Times New Roman"/>
              </a:rPr>
              <a:t>Roll No. : TA65</a:t>
            </a:r>
          </a:p>
          <a:p>
            <a:pPr>
              <a:spcBef>
                <a:spcPts val="580"/>
              </a:spcBef>
              <a:defRPr/>
            </a:pPr>
            <a:endParaRPr lang="en-US" sz="1400" b="1" dirty="0">
              <a:latin typeface="Times New Roman" pitchFamily="18" charset="0"/>
              <a:cs typeface="Times New Roman" pitchFamily="18" charset="0"/>
            </a:endParaRPr>
          </a:p>
          <a:p>
            <a:pPr>
              <a:spcBef>
                <a:spcPts val="580"/>
              </a:spcBef>
              <a:defRPr/>
            </a:pPr>
            <a:r>
              <a:rPr lang="en-US" sz="1400" b="1" dirty="0">
                <a:latin typeface="Times New Roman"/>
                <a:cs typeface="Times New Roman"/>
              </a:rPr>
              <a:t>Under the guidance of</a:t>
            </a:r>
          </a:p>
          <a:p>
            <a:pPr>
              <a:spcBef>
                <a:spcPts val="580"/>
              </a:spcBef>
              <a:defRPr/>
            </a:pPr>
            <a:r>
              <a:rPr lang="en-US" sz="1400" dirty="0">
                <a:latin typeface="Times New Roman"/>
                <a:cs typeface="Times New Roman"/>
              </a:rPr>
              <a:t>Prof.  Supriya Kamble</a:t>
            </a:r>
          </a:p>
          <a:p>
            <a:pPr>
              <a:spcBef>
                <a:spcPts val="580"/>
              </a:spcBef>
              <a:defRPr/>
            </a:pPr>
            <a:endParaRPr lang="en-US" sz="1400" b="1" dirty="0">
              <a:latin typeface="Times New Roman" pitchFamily="18" charset="0"/>
              <a:cs typeface="Times New Roman" pitchFamily="18" charset="0"/>
            </a:endParaRPr>
          </a:p>
          <a:p>
            <a:pPr>
              <a:buFont typeface="Arial" charset="0"/>
              <a:buNone/>
              <a:defRPr/>
            </a:pPr>
            <a:r>
              <a:rPr lang="en-US" sz="1400" b="1" dirty="0">
                <a:latin typeface="Times New Roman"/>
                <a:cs typeface="Times New Roman"/>
              </a:rPr>
              <a:t>Department of Computer Engineering</a:t>
            </a:r>
          </a:p>
          <a:p>
            <a:pPr>
              <a:buFont typeface="Arial" charset="0"/>
              <a:buNone/>
              <a:defRPr/>
            </a:pPr>
            <a:endParaRPr lang="en-US" sz="1400" b="1" dirty="0">
              <a:latin typeface="Times New Roman" pitchFamily="18" charset="0"/>
              <a:cs typeface="Times New Roman" pitchFamily="18" charset="0"/>
            </a:endParaRPr>
          </a:p>
          <a:p>
            <a:pPr>
              <a:buFont typeface="Arial" charset="0"/>
              <a:buNone/>
              <a:defRPr/>
            </a:pPr>
            <a:r>
              <a:rPr lang="en-US" sz="1400" b="1" dirty="0">
                <a:latin typeface="Times New Roman"/>
                <a:cs typeface="Times New Roman"/>
              </a:rPr>
              <a:t>Hope Foundations’</a:t>
            </a:r>
          </a:p>
          <a:p>
            <a:pPr>
              <a:buFont typeface="Arial" charset="0"/>
              <a:buNone/>
              <a:defRPr/>
            </a:pPr>
            <a:r>
              <a:rPr lang="en-US" sz="1400" b="1" dirty="0">
                <a:latin typeface="Times New Roman"/>
                <a:cs typeface="Times New Roman"/>
              </a:rPr>
              <a:t> International Institute of Information Technology, </a:t>
            </a:r>
            <a:r>
              <a:rPr lang="en-US" sz="1400" b="1" dirty="0" err="1">
                <a:latin typeface="Times New Roman"/>
                <a:cs typeface="Times New Roman"/>
              </a:rPr>
              <a:t>Hinjawadi</a:t>
            </a:r>
            <a:r>
              <a:rPr lang="en-US" sz="1400" b="1" dirty="0">
                <a:latin typeface="Times New Roman"/>
                <a:cs typeface="Times New Roman"/>
              </a:rPr>
              <a:t>, Pune-411057</a:t>
            </a:r>
          </a:p>
          <a:p>
            <a:pPr>
              <a:spcBef>
                <a:spcPts val="580"/>
              </a:spcBef>
              <a:defRPr/>
            </a:pPr>
            <a:r>
              <a:rPr lang="en-US" sz="1400" b="1" dirty="0">
                <a:latin typeface="Times New Roman"/>
                <a:cs typeface="Times New Roman"/>
              </a:rPr>
              <a:t>A.Y. 2023-24</a:t>
            </a:r>
          </a:p>
          <a:p>
            <a:pPr>
              <a:spcBef>
                <a:spcPts val="580"/>
              </a:spcBef>
              <a:defRPr/>
            </a:pPr>
            <a:endParaRPr lang="en-US" sz="3400" b="1" dirty="0"/>
          </a:p>
          <a:p>
            <a:pPr>
              <a:spcBef>
                <a:spcPts val="580"/>
              </a:spcBef>
              <a:defRPr/>
            </a:pPr>
            <a:endParaRPr lang="en-US" dirty="0"/>
          </a:p>
        </p:txBody>
      </p:sp>
      <p:sp>
        <p:nvSpPr>
          <p:cNvPr id="4099" name="Title 1">
            <a:extLst>
              <a:ext uri="{FF2B5EF4-FFF2-40B4-BE49-F238E27FC236}">
                <a16:creationId xmlns:a16="http://schemas.microsoft.com/office/drawing/2014/main" id="{2360A6FB-8CDA-9FC5-9B34-54B8C869A685}"/>
              </a:ext>
            </a:extLst>
          </p:cNvPr>
          <p:cNvSpPr>
            <a:spLocks noGrp="1"/>
          </p:cNvSpPr>
          <p:nvPr>
            <p:ph type="ctrTitle"/>
          </p:nvPr>
        </p:nvSpPr>
        <p:spPr>
          <a:xfrm>
            <a:off x="2024063" y="1285876"/>
            <a:ext cx="8229600" cy="1143425"/>
          </a:xfrm>
        </p:spPr>
        <p:txBody>
          <a:bodyPr>
            <a:normAutofit/>
          </a:bodyPr>
          <a:lstStyle/>
          <a:p>
            <a:pPr eaLnBrk="1" hangingPunct="1"/>
            <a:r>
              <a:rPr lang="en-US" sz="3200" b="1" dirty="0">
                <a:latin typeface="Times New Roman" panose="02020603050405020304" pitchFamily="18" charset="0"/>
                <a:cs typeface="Times New Roman" panose="02020603050405020304" pitchFamily="18" charset="0"/>
              </a:rPr>
              <a:t>Driver Drowsiness Detection using CNN</a:t>
            </a:r>
            <a:endParaRPr lang="en-US" altLang="en-US" sz="3200" b="1" dirty="0">
              <a:latin typeface="Times New Roman" panose="02020603050405020304" pitchFamily="18" charset="0"/>
              <a:cs typeface="Times New Roman" panose="02020603050405020304" pitchFamily="18" charset="0"/>
            </a:endParaRPr>
          </a:p>
        </p:txBody>
      </p:sp>
      <p:pic>
        <p:nvPicPr>
          <p:cNvPr id="4100" name="Picture 4">
            <a:extLst>
              <a:ext uri="{FF2B5EF4-FFF2-40B4-BE49-F238E27FC236}">
                <a16:creationId xmlns:a16="http://schemas.microsoft.com/office/drawing/2014/main" id="{5B26049E-00EC-89FE-5802-5CC7BBBD11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24501" y="214313"/>
            <a:ext cx="1285875" cy="151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3" name="Top left">
            <a:extLst>
              <a:ext uri="{FF2B5EF4-FFF2-40B4-BE49-F238E27FC236}">
                <a16:creationId xmlns:a16="http://schemas.microsoft.com/office/drawing/2014/main" id="{F73EC8D8-C118-4A24-B3A2-F22636F209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4" name="Freeform: Shape 13">
              <a:extLst>
                <a:ext uri="{FF2B5EF4-FFF2-40B4-BE49-F238E27FC236}">
                  <a16:creationId xmlns:a16="http://schemas.microsoft.com/office/drawing/2014/main" id="{33A839E4-FE02-4C32-B9F7-07884043E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Freeform: Shape 14">
              <a:extLst>
                <a:ext uri="{FF2B5EF4-FFF2-40B4-BE49-F238E27FC236}">
                  <a16:creationId xmlns:a16="http://schemas.microsoft.com/office/drawing/2014/main" id="{9C10340A-FCF2-4B86-A53A-4AC07E6CF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Freeform: Shape 15">
              <a:extLst>
                <a:ext uri="{FF2B5EF4-FFF2-40B4-BE49-F238E27FC236}">
                  <a16:creationId xmlns:a16="http://schemas.microsoft.com/office/drawing/2014/main" id="{2E85F37B-D9B1-4701-B54A-A91E836FA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227C5295-7462-4E42-B19A-682465F9F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712C31CF-3625-4E9F-99FC-C7AA5BBA88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36EDCF2F-2C4B-4D4B-964F-F640BCDCE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21B0354D-2FFC-40F9-91E5-A83DDD770D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E4F4CED2-0CA8-4824-93F0-00BE4C7D1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AF1757CB-77C4-B064-815E-85F353D4E4D7}"/>
              </a:ext>
            </a:extLst>
          </p:cNvPr>
          <p:cNvSpPr>
            <a:spLocks noGrp="1"/>
          </p:cNvSpPr>
          <p:nvPr>
            <p:ph type="title"/>
          </p:nvPr>
        </p:nvSpPr>
        <p:spPr>
          <a:xfrm>
            <a:off x="1198182" y="559813"/>
            <a:ext cx="3980254" cy="5577934"/>
          </a:xfrm>
        </p:spPr>
        <p:txBody>
          <a:bodyPr>
            <a:normAutofit/>
          </a:bodyPr>
          <a:lstStyle/>
          <a:p>
            <a:r>
              <a:rPr lang="en-US" b="1" dirty="0">
                <a:latin typeface="Times New Roman"/>
                <a:cs typeface="Times New Roman"/>
              </a:rPr>
              <a:t>Contents</a:t>
            </a:r>
            <a:endParaRPr lang="en-US" dirty="0"/>
          </a:p>
        </p:txBody>
      </p:sp>
      <p:grpSp>
        <p:nvGrpSpPr>
          <p:cNvPr id="23" name="Bottom Right">
            <a:extLst>
              <a:ext uri="{FF2B5EF4-FFF2-40B4-BE49-F238E27FC236}">
                <a16:creationId xmlns:a16="http://schemas.microsoft.com/office/drawing/2014/main" id="{3BA0B410-FA41-4CD6-A923-146E029BBB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4" name="Graphic 157">
              <a:extLst>
                <a:ext uri="{FF2B5EF4-FFF2-40B4-BE49-F238E27FC236}">
                  <a16:creationId xmlns:a16="http://schemas.microsoft.com/office/drawing/2014/main" id="{2448B270-CA89-4A7C-8CFC-8237ED03AE1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26" name="Freeform: Shape 25">
                <a:extLst>
                  <a:ext uri="{FF2B5EF4-FFF2-40B4-BE49-F238E27FC236}">
                    <a16:creationId xmlns:a16="http://schemas.microsoft.com/office/drawing/2014/main" id="{BD2ED6FF-1F6E-4BF0-BFFF-5CB8D36F1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 name="Freeform: Shape 26">
                <a:extLst>
                  <a:ext uri="{FF2B5EF4-FFF2-40B4-BE49-F238E27FC236}">
                    <a16:creationId xmlns:a16="http://schemas.microsoft.com/office/drawing/2014/main" id="{2F2CCA35-C35D-416B-A083-A167138A5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70FAEE04-D524-4356-8CFE-091D44ED18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5F641E2E-FB37-449C-96DA-945907C75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283CE73A-E65A-44EA-9C23-C6F2137AFB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41745A30-6979-4D1D-A629-E7C0C6A53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E70C366B-087F-442D-AC20-1319F97A9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5" name="Freeform: Shape 24">
              <a:extLst>
                <a:ext uri="{FF2B5EF4-FFF2-40B4-BE49-F238E27FC236}">
                  <a16:creationId xmlns:a16="http://schemas.microsoft.com/office/drawing/2014/main" id="{1D2F7A6B-9CB6-4AC5-B906-664FC95A17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5" name="Content Placeholder 2">
            <a:extLst>
              <a:ext uri="{FF2B5EF4-FFF2-40B4-BE49-F238E27FC236}">
                <a16:creationId xmlns:a16="http://schemas.microsoft.com/office/drawing/2014/main" id="{9415E4E7-D8ED-2AD9-37CA-60DF02DDC258}"/>
              </a:ext>
            </a:extLst>
          </p:cNvPr>
          <p:cNvGraphicFramePr>
            <a:graphicFrameLocks noGrp="1"/>
          </p:cNvGraphicFramePr>
          <p:nvPr>
            <p:ph idx="1"/>
            <p:extLst>
              <p:ext uri="{D42A27DB-BD31-4B8C-83A1-F6EECF244321}">
                <p14:modId xmlns:p14="http://schemas.microsoft.com/office/powerpoint/2010/main" val="2613920831"/>
              </p:ext>
            </p:extLst>
          </p:nvPr>
        </p:nvGraphicFramePr>
        <p:xfrm>
          <a:off x="5408988" y="341165"/>
          <a:ext cx="6173409" cy="58434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5759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9" name="Rectangle 108">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0" name="Rectangle 109">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11" name="Top Left">
            <a:extLst>
              <a:ext uri="{FF2B5EF4-FFF2-40B4-BE49-F238E27FC236}">
                <a16:creationId xmlns:a16="http://schemas.microsoft.com/office/drawing/2014/main" id="{18CEF068-A83C-4E80-A91D-47749F7E8C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62" name="Freeform: Shape 61">
              <a:extLst>
                <a:ext uri="{FF2B5EF4-FFF2-40B4-BE49-F238E27FC236}">
                  <a16:creationId xmlns:a16="http://schemas.microsoft.com/office/drawing/2014/main" id="{D351804A-9086-4ED8-871F-E725FC7C0C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112" name="Freeform: Shape 111">
              <a:extLst>
                <a:ext uri="{FF2B5EF4-FFF2-40B4-BE49-F238E27FC236}">
                  <a16:creationId xmlns:a16="http://schemas.microsoft.com/office/drawing/2014/main" id="{6E1BDA18-9123-45A7-A7C8-B4062C3061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DD4F7809-874F-486D-9331-F561A10C6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8BCA5657-DDC6-4592-8949-7805A8C2E7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7B54387B-764A-4B67-B158-C5438E701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43AF77E1-4CAE-42D1-B0CD-29193DD60A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BE372D86-A479-4C8E-A818-41063098D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69" name="Freeform: Shape 68">
              <a:extLst>
                <a:ext uri="{FF2B5EF4-FFF2-40B4-BE49-F238E27FC236}">
                  <a16:creationId xmlns:a16="http://schemas.microsoft.com/office/drawing/2014/main" id="{B38ED880-952D-44CF-AFF0-3ACBA0590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71" name="Bottom Right">
            <a:extLst>
              <a:ext uri="{FF2B5EF4-FFF2-40B4-BE49-F238E27FC236}">
                <a16:creationId xmlns:a16="http://schemas.microsoft.com/office/drawing/2014/main" id="{2EF3554A-2AE0-42C9-9EBA-E5A745B6AB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72" name="Freeform: Shape 71">
              <a:extLst>
                <a:ext uri="{FF2B5EF4-FFF2-40B4-BE49-F238E27FC236}">
                  <a16:creationId xmlns:a16="http://schemas.microsoft.com/office/drawing/2014/main" id="{EC82BAEF-85BB-4241-8482-5CDDC6AED9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73" name="Graphic 157">
              <a:extLst>
                <a:ext uri="{FF2B5EF4-FFF2-40B4-BE49-F238E27FC236}">
                  <a16:creationId xmlns:a16="http://schemas.microsoft.com/office/drawing/2014/main" id="{1398627C-E91C-4F9D-ACA4-43D817CBB95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75" name="Freeform: Shape 74">
                <a:extLst>
                  <a:ext uri="{FF2B5EF4-FFF2-40B4-BE49-F238E27FC236}">
                    <a16:creationId xmlns:a16="http://schemas.microsoft.com/office/drawing/2014/main" id="{88C07E51-FA59-45E4-982C-E3B03BED5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76" name="Freeform: Shape 75">
                <a:extLst>
                  <a:ext uri="{FF2B5EF4-FFF2-40B4-BE49-F238E27FC236}">
                    <a16:creationId xmlns:a16="http://schemas.microsoft.com/office/drawing/2014/main" id="{6C8A4AD0-A660-4754-8A38-0CA14015C8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7" name="Freeform: Shape 76">
                <a:extLst>
                  <a:ext uri="{FF2B5EF4-FFF2-40B4-BE49-F238E27FC236}">
                    <a16:creationId xmlns:a16="http://schemas.microsoft.com/office/drawing/2014/main" id="{800614E9-CDC8-40B4-9168-D8F172104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78" name="Freeform: Shape 77">
                <a:extLst>
                  <a:ext uri="{FF2B5EF4-FFF2-40B4-BE49-F238E27FC236}">
                    <a16:creationId xmlns:a16="http://schemas.microsoft.com/office/drawing/2014/main" id="{2DB8A000-7616-4F88-957B-A01078420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9" name="Freeform: Shape 78">
                <a:extLst>
                  <a:ext uri="{FF2B5EF4-FFF2-40B4-BE49-F238E27FC236}">
                    <a16:creationId xmlns:a16="http://schemas.microsoft.com/office/drawing/2014/main" id="{4244EC08-3BD0-45F8-8FB3-1A8A027E92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80" name="Freeform: Shape 79">
                <a:extLst>
                  <a:ext uri="{FF2B5EF4-FFF2-40B4-BE49-F238E27FC236}">
                    <a16:creationId xmlns:a16="http://schemas.microsoft.com/office/drawing/2014/main" id="{63B208B7-3C91-48CE-81EB-58FC01B98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81" name="Freeform: Shape 80">
                <a:extLst>
                  <a:ext uri="{FF2B5EF4-FFF2-40B4-BE49-F238E27FC236}">
                    <a16:creationId xmlns:a16="http://schemas.microsoft.com/office/drawing/2014/main" id="{2DB641FF-869B-4430-9CC3-BD16F2E1D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74" name="Freeform: Shape 73">
              <a:extLst>
                <a:ext uri="{FF2B5EF4-FFF2-40B4-BE49-F238E27FC236}">
                  <a16:creationId xmlns:a16="http://schemas.microsoft.com/office/drawing/2014/main" id="{10359AAF-9830-4DCB-BBA9-5DC5FC426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1091917" y="744909"/>
            <a:ext cx="9927489" cy="926929"/>
          </a:xfrm>
        </p:spPr>
        <p:txBody>
          <a:bodyPr anchor="b">
            <a:normAutofit/>
          </a:bodyPr>
          <a:lstStyle/>
          <a:p>
            <a:pPr algn="l"/>
            <a:r>
              <a:rPr lang="en-US" sz="5400" dirty="0"/>
              <a:t>Topic:</a:t>
            </a:r>
          </a:p>
        </p:txBody>
      </p:sp>
      <p:sp>
        <p:nvSpPr>
          <p:cNvPr id="3" name="Subtitle 2"/>
          <p:cNvSpPr>
            <a:spLocks noGrp="1"/>
          </p:cNvSpPr>
          <p:nvPr>
            <p:ph type="subTitle" idx="1"/>
          </p:nvPr>
        </p:nvSpPr>
        <p:spPr>
          <a:xfrm>
            <a:off x="1206156" y="1961313"/>
            <a:ext cx="9812736" cy="4167777"/>
          </a:xfrm>
        </p:spPr>
        <p:txBody>
          <a:bodyPr anchor="t">
            <a:normAutofit/>
          </a:bodyPr>
          <a:lstStyle/>
          <a:p>
            <a:pPr algn="l"/>
            <a:r>
              <a:rPr lang="en-US" sz="4400" b="1" dirty="0">
                <a:solidFill>
                  <a:srgbClr val="000000"/>
                </a:solidFill>
                <a:latin typeface="Times New Roman"/>
                <a:cs typeface="Times New Roman"/>
              </a:rPr>
              <a:t>Driver Drowsiness Detection using CNN</a:t>
            </a:r>
            <a:endParaRPr lang="en-US" dirty="0"/>
          </a:p>
        </p:txBody>
      </p:sp>
      <p:grpSp>
        <p:nvGrpSpPr>
          <p:cNvPr id="113" name="Cross">
            <a:extLst>
              <a:ext uri="{FF2B5EF4-FFF2-40B4-BE49-F238E27FC236}">
                <a16:creationId xmlns:a16="http://schemas.microsoft.com/office/drawing/2014/main" id="{5C0E6139-8A19-4905-87E2-E547D7B7F1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2293" y="4013805"/>
            <a:ext cx="118872" cy="118872"/>
            <a:chOff x="1175347" y="3733800"/>
            <a:chExt cx="118872" cy="118872"/>
          </a:xfrm>
        </p:grpSpPr>
        <p:cxnSp>
          <p:nvCxnSpPr>
            <p:cNvPr id="84" name="Straight Connector 83">
              <a:extLst>
                <a:ext uri="{FF2B5EF4-FFF2-40B4-BE49-F238E27FC236}">
                  <a16:creationId xmlns:a16="http://schemas.microsoft.com/office/drawing/2014/main" id="{BC05FFBD-B86A-4BD3-A147-FA95CE03CF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85" name="Straight Connector 84">
              <a:extLst>
                <a:ext uri="{FF2B5EF4-FFF2-40B4-BE49-F238E27FC236}">
                  <a16:creationId xmlns:a16="http://schemas.microsoft.com/office/drawing/2014/main" id="{EB69F8B1-78FB-4562-8A0D-8D29636755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0985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3E1E7-FB0F-31B9-2F51-1049A3A32AFB}"/>
              </a:ext>
            </a:extLst>
          </p:cNvPr>
          <p:cNvSpPr>
            <a:spLocks noGrp="1"/>
          </p:cNvSpPr>
          <p:nvPr>
            <p:ph type="title"/>
          </p:nvPr>
        </p:nvSpPr>
        <p:spPr>
          <a:xfrm>
            <a:off x="838200" y="365125"/>
            <a:ext cx="10515600" cy="678583"/>
          </a:xfrm>
        </p:spPr>
        <p:txBody>
          <a:bodyPr>
            <a:normAutofit fontScale="90000"/>
          </a:bodyPr>
          <a:lstStyle/>
          <a:p>
            <a:r>
              <a:rPr lang="en-US" dirty="0"/>
              <a:t>Introduction</a:t>
            </a:r>
          </a:p>
        </p:txBody>
      </p:sp>
      <p:sp>
        <p:nvSpPr>
          <p:cNvPr id="3" name="Content Placeholder 2">
            <a:extLst>
              <a:ext uri="{FF2B5EF4-FFF2-40B4-BE49-F238E27FC236}">
                <a16:creationId xmlns:a16="http://schemas.microsoft.com/office/drawing/2014/main" id="{A6EE4D34-1008-D0C5-637C-D1C3A386B7AB}"/>
              </a:ext>
            </a:extLst>
          </p:cNvPr>
          <p:cNvSpPr>
            <a:spLocks noGrp="1"/>
          </p:cNvSpPr>
          <p:nvPr>
            <p:ph idx="1"/>
          </p:nvPr>
        </p:nvSpPr>
        <p:spPr>
          <a:xfrm>
            <a:off x="838200" y="1063627"/>
            <a:ext cx="10745637" cy="5573411"/>
          </a:xfrm>
        </p:spPr>
        <p:txBody>
          <a:bodyPr vert="horz" lIns="91440" tIns="45720" rIns="91440" bIns="45720" rtlCol="0" anchor="t">
            <a:normAutofit/>
          </a:bodyPr>
          <a:lstStyle/>
          <a:p>
            <a:r>
              <a:rPr lang="en-US" sz="1800" b="1" dirty="0">
                <a:ea typeface="+mn-lt"/>
                <a:cs typeface="+mn-lt"/>
              </a:rPr>
              <a:t>Drowsiness and Road Safety</a:t>
            </a:r>
            <a:endParaRPr lang="en-US" sz="1800">
              <a:cs typeface="Arial"/>
            </a:endParaRPr>
          </a:p>
          <a:p>
            <a:r>
              <a:rPr lang="en-US" sz="1800" dirty="0">
                <a:ea typeface="+mn-lt"/>
                <a:cs typeface="+mn-lt"/>
              </a:rPr>
              <a:t>Driver drowsiness is a leading cause of road accidents globally.</a:t>
            </a:r>
            <a:endParaRPr lang="en-US" sz="1800">
              <a:cs typeface="Arial"/>
            </a:endParaRPr>
          </a:p>
          <a:p>
            <a:r>
              <a:rPr lang="en-US" sz="1800" dirty="0">
                <a:ea typeface="+mn-lt"/>
                <a:cs typeface="+mn-lt"/>
              </a:rPr>
              <a:t>Fatigue impairs reaction time, awareness, and decision-making.</a:t>
            </a:r>
            <a:endParaRPr lang="en-US" sz="1800">
              <a:cs typeface="Arial"/>
            </a:endParaRPr>
          </a:p>
          <a:p>
            <a:r>
              <a:rPr lang="en-US" sz="1800" dirty="0">
                <a:ea typeface="+mn-lt"/>
                <a:cs typeface="+mn-lt"/>
              </a:rPr>
              <a:t>Difficult to detect using traditional methods like steering pattern or lane tracking.</a:t>
            </a:r>
            <a:endParaRPr lang="en-US" sz="1800">
              <a:cs typeface="Arial"/>
            </a:endParaRPr>
          </a:p>
          <a:p>
            <a:endParaRPr lang="en-US" sz="1800" dirty="0">
              <a:ea typeface="+mn-lt"/>
              <a:cs typeface="+mn-lt"/>
            </a:endParaRPr>
          </a:p>
          <a:p>
            <a:r>
              <a:rPr lang="en-US" sz="1800" b="1" dirty="0">
                <a:ea typeface="+mn-lt"/>
                <a:cs typeface="+mn-lt"/>
              </a:rPr>
              <a:t>Need for Intelligent Detection</a:t>
            </a:r>
            <a:endParaRPr lang="en-US" sz="1800">
              <a:cs typeface="Arial"/>
            </a:endParaRPr>
          </a:p>
          <a:p>
            <a:r>
              <a:rPr lang="en-US" sz="1800" dirty="0">
                <a:ea typeface="+mn-lt"/>
                <a:cs typeface="+mn-lt"/>
              </a:rPr>
              <a:t>Conventional techniques are often inaccurate or require expensive external sensors.</a:t>
            </a:r>
            <a:endParaRPr lang="en-US" sz="1800">
              <a:cs typeface="Arial"/>
            </a:endParaRPr>
          </a:p>
          <a:p>
            <a:r>
              <a:rPr lang="en-US" sz="1800" dirty="0">
                <a:ea typeface="+mn-lt"/>
                <a:cs typeface="+mn-lt"/>
              </a:rPr>
              <a:t>There is a need for a </a:t>
            </a:r>
            <a:r>
              <a:rPr lang="en-US" sz="1800" b="1" dirty="0">
                <a:ea typeface="+mn-lt"/>
                <a:cs typeface="+mn-lt"/>
              </a:rPr>
              <a:t>non-intrusive, cost-effective, real-time solution</a:t>
            </a:r>
            <a:r>
              <a:rPr lang="en-US" sz="1800" dirty="0">
                <a:ea typeface="+mn-lt"/>
                <a:cs typeface="+mn-lt"/>
              </a:rPr>
              <a:t>.</a:t>
            </a:r>
            <a:endParaRPr lang="en-US" sz="1800">
              <a:cs typeface="Arial"/>
            </a:endParaRPr>
          </a:p>
          <a:p>
            <a:endParaRPr lang="en-US" sz="1800" dirty="0">
              <a:ea typeface="+mn-lt"/>
              <a:cs typeface="+mn-lt"/>
            </a:endParaRPr>
          </a:p>
          <a:p>
            <a:r>
              <a:rPr lang="en-US" sz="1800" b="1" dirty="0">
                <a:ea typeface="+mn-lt"/>
                <a:cs typeface="+mn-lt"/>
              </a:rPr>
              <a:t>Role of Computer Vision &amp; Deep Learning</a:t>
            </a:r>
            <a:endParaRPr lang="en-US" sz="1800">
              <a:cs typeface="Arial"/>
            </a:endParaRPr>
          </a:p>
          <a:p>
            <a:r>
              <a:rPr lang="en-US" sz="1800" dirty="0">
                <a:ea typeface="+mn-lt"/>
                <a:cs typeface="+mn-lt"/>
              </a:rPr>
              <a:t>Computer vision enables real-time facial analysis using just a webcam.</a:t>
            </a:r>
            <a:endParaRPr lang="en-US" sz="1800">
              <a:cs typeface="Arial"/>
            </a:endParaRPr>
          </a:p>
          <a:p>
            <a:r>
              <a:rPr lang="en-US" sz="1800" b="1" dirty="0">
                <a:ea typeface="+mn-lt"/>
                <a:cs typeface="+mn-lt"/>
              </a:rPr>
              <a:t>Convolutional Neural Networks (CNNs)</a:t>
            </a:r>
            <a:r>
              <a:rPr lang="en-US" sz="1800" dirty="0">
                <a:ea typeface="+mn-lt"/>
                <a:cs typeface="+mn-lt"/>
              </a:rPr>
              <a:t> excel at detecting visual patterns like closed eyes and yawning.</a:t>
            </a:r>
            <a:endParaRPr lang="en-US" sz="1800">
              <a:cs typeface="Arial"/>
            </a:endParaRPr>
          </a:p>
          <a:p>
            <a:endParaRPr lang="en-US" sz="1200" b="1" dirty="0">
              <a:cs typeface="Arial"/>
            </a:endParaRPr>
          </a:p>
          <a:p>
            <a:endParaRPr lang="en-US" sz="1200" b="1" dirty="0">
              <a:cs typeface="Arial"/>
            </a:endParaRPr>
          </a:p>
          <a:p>
            <a:endParaRPr lang="en-US" dirty="0">
              <a:cs typeface="Arial"/>
            </a:endParaRPr>
          </a:p>
        </p:txBody>
      </p:sp>
    </p:spTree>
    <p:extLst>
      <p:ext uri="{BB962C8B-B14F-4D97-AF65-F5344CB8AC3E}">
        <p14:creationId xmlns:p14="http://schemas.microsoft.com/office/powerpoint/2010/main" val="4275196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37A5D0-6BA8-0B0D-C057-3F1E6DE5E8AF}"/>
              </a:ext>
            </a:extLst>
          </p:cNvPr>
          <p:cNvSpPr>
            <a:spLocks noGrp="1"/>
          </p:cNvSpPr>
          <p:nvPr>
            <p:ph idx="1"/>
          </p:nvPr>
        </p:nvSpPr>
        <p:spPr>
          <a:xfrm>
            <a:off x="838200" y="229739"/>
            <a:ext cx="10515600" cy="5947224"/>
          </a:xfrm>
        </p:spPr>
        <p:txBody>
          <a:bodyPr vert="horz" lIns="91440" tIns="45720" rIns="91440" bIns="45720" rtlCol="0" anchor="t">
            <a:normAutofit/>
          </a:bodyPr>
          <a:lstStyle/>
          <a:p>
            <a:r>
              <a:rPr lang="en-US" sz="1800" b="1" dirty="0">
                <a:cs typeface="Arial"/>
              </a:rPr>
              <a:t>Overview of the Proposed System</a:t>
            </a:r>
            <a:endParaRPr lang="en-US" sz="1800">
              <a:solidFill>
                <a:srgbClr val="000000"/>
              </a:solidFill>
              <a:cs typeface="Arial"/>
            </a:endParaRPr>
          </a:p>
          <a:p>
            <a:r>
              <a:rPr lang="en-US" sz="1800" dirty="0">
                <a:cs typeface="Arial"/>
              </a:rPr>
              <a:t>Uses Haar cascade classifiers for face and eye detection.</a:t>
            </a:r>
            <a:endParaRPr lang="en-US" sz="1800">
              <a:solidFill>
                <a:srgbClr val="000000"/>
              </a:solidFill>
              <a:cs typeface="Arial"/>
            </a:endParaRPr>
          </a:p>
          <a:p>
            <a:r>
              <a:rPr lang="en-US" sz="1800" dirty="0">
                <a:cs typeface="Arial"/>
              </a:rPr>
              <a:t>Frames are preprocessed and passed through a trained CNN.</a:t>
            </a:r>
            <a:endParaRPr lang="en-US" sz="1800">
              <a:solidFill>
                <a:srgbClr val="000000"/>
              </a:solidFill>
              <a:cs typeface="Arial"/>
            </a:endParaRPr>
          </a:p>
          <a:p>
            <a:r>
              <a:rPr lang="en-US" sz="1800" dirty="0">
                <a:cs typeface="Arial"/>
              </a:rPr>
              <a:t>The CNN predicts whether eyes are open or closed, or if yawning is occurring.</a:t>
            </a:r>
          </a:p>
          <a:p>
            <a:endParaRPr lang="en-US" sz="1800" dirty="0">
              <a:cs typeface="Arial"/>
            </a:endParaRPr>
          </a:p>
          <a:p>
            <a:r>
              <a:rPr lang="en-US" sz="1800" b="1" dirty="0">
                <a:cs typeface="Arial"/>
              </a:rPr>
              <a:t>Real-Time Monitoring and Alert Mechanism</a:t>
            </a:r>
            <a:endParaRPr lang="en-US" sz="1800">
              <a:solidFill>
                <a:srgbClr val="000000"/>
              </a:solidFill>
              <a:cs typeface="Arial"/>
            </a:endParaRPr>
          </a:p>
          <a:p>
            <a:r>
              <a:rPr lang="en-US" sz="1800" dirty="0">
                <a:cs typeface="Arial"/>
              </a:rPr>
              <a:t>Tracks eye closure duration over consecutive frames.</a:t>
            </a:r>
            <a:endParaRPr lang="en-US" sz="1800">
              <a:solidFill>
                <a:srgbClr val="000000"/>
              </a:solidFill>
              <a:cs typeface="Arial"/>
            </a:endParaRPr>
          </a:p>
          <a:p>
            <a:r>
              <a:rPr lang="en-US" sz="1800" dirty="0">
                <a:cs typeface="Arial"/>
              </a:rPr>
              <a:t>If drowsiness is detected (e.g., eyes closed for more than 10 frames), an alarm is triggered.</a:t>
            </a:r>
            <a:endParaRPr lang="en-US" sz="1800">
              <a:solidFill>
                <a:srgbClr val="000000"/>
              </a:solidFill>
              <a:cs typeface="Arial"/>
            </a:endParaRPr>
          </a:p>
          <a:p>
            <a:r>
              <a:rPr lang="en-US" sz="1800" dirty="0">
                <a:cs typeface="Arial"/>
              </a:rPr>
              <a:t>Designed to function in real-time using basic hardware (webcam + computer).</a:t>
            </a:r>
            <a:endParaRPr lang="en-US" sz="1800">
              <a:solidFill>
                <a:srgbClr val="000000"/>
              </a:solidFill>
              <a:cs typeface="Arial"/>
            </a:endParaRPr>
          </a:p>
          <a:p>
            <a:endParaRPr lang="en-US" sz="1800" dirty="0">
              <a:cs typeface="Arial"/>
            </a:endParaRPr>
          </a:p>
          <a:p>
            <a:r>
              <a:rPr lang="en-US" sz="1800" b="1" dirty="0">
                <a:cs typeface="Arial"/>
              </a:rPr>
              <a:t>Goals of the Project</a:t>
            </a:r>
            <a:endParaRPr lang="en-US" sz="1800">
              <a:solidFill>
                <a:srgbClr val="000000"/>
              </a:solidFill>
              <a:cs typeface="Arial"/>
            </a:endParaRPr>
          </a:p>
          <a:p>
            <a:r>
              <a:rPr lang="en-US" sz="1800" dirty="0">
                <a:cs typeface="Arial"/>
              </a:rPr>
              <a:t>Enhance driver safety through early drowsiness detection.</a:t>
            </a:r>
            <a:endParaRPr lang="en-US" sz="1800">
              <a:solidFill>
                <a:srgbClr val="000000"/>
              </a:solidFill>
              <a:cs typeface="Arial"/>
            </a:endParaRPr>
          </a:p>
          <a:p>
            <a:r>
              <a:rPr lang="en-US" sz="1800" dirty="0">
                <a:cs typeface="Arial"/>
              </a:rPr>
              <a:t>Demonstrate the effectiveness of deep learning for real-world safety applications.</a:t>
            </a:r>
            <a:endParaRPr lang="en-US" sz="1800" dirty="0"/>
          </a:p>
        </p:txBody>
      </p:sp>
    </p:spTree>
    <p:extLst>
      <p:ext uri="{BB962C8B-B14F-4D97-AF65-F5344CB8AC3E}">
        <p14:creationId xmlns:p14="http://schemas.microsoft.com/office/powerpoint/2010/main" val="1818503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AC77B-3DBF-E0A1-71A1-102715DB80BF}"/>
              </a:ext>
            </a:extLst>
          </p:cNvPr>
          <p:cNvSpPr>
            <a:spLocks noGrp="1"/>
          </p:cNvSpPr>
          <p:nvPr>
            <p:ph type="title"/>
          </p:nvPr>
        </p:nvSpPr>
        <p:spPr>
          <a:xfrm>
            <a:off x="838200" y="365125"/>
            <a:ext cx="10515600" cy="606696"/>
          </a:xfrm>
        </p:spPr>
        <p:txBody>
          <a:bodyPr>
            <a:normAutofit fontScale="90000"/>
          </a:bodyPr>
          <a:lstStyle/>
          <a:p>
            <a:r>
              <a:rPr lang="en-US" dirty="0"/>
              <a:t>Motivation</a:t>
            </a:r>
          </a:p>
        </p:txBody>
      </p:sp>
      <p:sp>
        <p:nvSpPr>
          <p:cNvPr id="3" name="Content Placeholder 2">
            <a:extLst>
              <a:ext uri="{FF2B5EF4-FFF2-40B4-BE49-F238E27FC236}">
                <a16:creationId xmlns:a16="http://schemas.microsoft.com/office/drawing/2014/main" id="{D3615AA6-3DA3-DD6A-21BC-AD134E5B74A8}"/>
              </a:ext>
            </a:extLst>
          </p:cNvPr>
          <p:cNvSpPr>
            <a:spLocks noGrp="1"/>
          </p:cNvSpPr>
          <p:nvPr>
            <p:ph idx="1"/>
          </p:nvPr>
        </p:nvSpPr>
        <p:spPr>
          <a:xfrm>
            <a:off x="838200" y="1092380"/>
            <a:ext cx="10515600" cy="5084583"/>
          </a:xfrm>
        </p:spPr>
        <p:txBody>
          <a:bodyPr vert="horz" lIns="91440" tIns="45720" rIns="91440" bIns="45720" rtlCol="0" anchor="t">
            <a:normAutofit fontScale="85000" lnSpcReduction="20000"/>
          </a:bodyPr>
          <a:lstStyle/>
          <a:p>
            <a:pPr marL="0" indent="0">
              <a:buNone/>
            </a:pPr>
            <a:r>
              <a:rPr lang="en-US" dirty="0">
                <a:solidFill>
                  <a:schemeClr val="accent2"/>
                </a:solidFill>
                <a:ea typeface="+mn-lt"/>
                <a:cs typeface="+mn-lt"/>
              </a:rPr>
              <a:t>+</a:t>
            </a:r>
            <a:r>
              <a:rPr lang="en-US" dirty="0">
                <a:ea typeface="+mn-lt"/>
                <a:cs typeface="+mn-lt"/>
              </a:rPr>
              <a:t> </a:t>
            </a:r>
            <a:r>
              <a:rPr lang="en-US" b="1" dirty="0">
                <a:ea typeface="+mn-lt"/>
                <a:cs typeface="+mn-lt"/>
              </a:rPr>
              <a:t>High Rate of Road Accidents Due to Fatigue</a:t>
            </a:r>
            <a:endParaRPr lang="en-US" dirty="0">
              <a:cs typeface="Arial"/>
            </a:endParaRPr>
          </a:p>
          <a:p>
            <a:pPr lvl="1"/>
            <a:r>
              <a:rPr lang="en-US" dirty="0">
                <a:ea typeface="+mn-lt"/>
                <a:cs typeface="+mn-lt"/>
              </a:rPr>
              <a:t>Drowsy driving is a major contributor to road accidents, especially on highways and long routes.</a:t>
            </a:r>
            <a:endParaRPr lang="en-US" dirty="0"/>
          </a:p>
          <a:p>
            <a:pPr lvl="1"/>
            <a:r>
              <a:rPr lang="en-US" dirty="0">
                <a:ea typeface="+mn-lt"/>
                <a:cs typeface="+mn-lt"/>
              </a:rPr>
              <a:t>According to WHO and traffic safety reports, fatigue-related crashes often result in severe injuries or fatalities.</a:t>
            </a:r>
            <a:endParaRPr lang="en-US" dirty="0"/>
          </a:p>
          <a:p>
            <a:r>
              <a:rPr lang="en-US" b="1" dirty="0">
                <a:ea typeface="+mn-lt"/>
                <a:cs typeface="+mn-lt"/>
              </a:rPr>
              <a:t>Need for Non-Invasive Detection Methods</a:t>
            </a:r>
            <a:endParaRPr lang="en-US" dirty="0"/>
          </a:p>
          <a:p>
            <a:pPr lvl="1"/>
            <a:r>
              <a:rPr lang="en-US" dirty="0">
                <a:ea typeface="+mn-lt"/>
                <a:cs typeface="+mn-lt"/>
              </a:rPr>
              <a:t>Traditional detection systems rely on sensors or driver input, which can be intrusive or impractical.</a:t>
            </a:r>
            <a:endParaRPr lang="en-US" dirty="0"/>
          </a:p>
          <a:p>
            <a:pPr lvl="1"/>
            <a:r>
              <a:rPr lang="en-US" dirty="0">
                <a:ea typeface="+mn-lt"/>
                <a:cs typeface="+mn-lt"/>
              </a:rPr>
              <a:t>There's a growing need for a </a:t>
            </a:r>
            <a:r>
              <a:rPr lang="en-US" b="1" dirty="0">
                <a:ea typeface="+mn-lt"/>
                <a:cs typeface="+mn-lt"/>
              </a:rPr>
              <a:t>camera-based, real-time solution</a:t>
            </a:r>
            <a:r>
              <a:rPr lang="en-US" dirty="0">
                <a:ea typeface="+mn-lt"/>
                <a:cs typeface="+mn-lt"/>
              </a:rPr>
              <a:t> that doesn’t disturb the driver.</a:t>
            </a:r>
            <a:endParaRPr lang="en-US" dirty="0"/>
          </a:p>
          <a:p>
            <a:r>
              <a:rPr lang="en-US" b="1" dirty="0">
                <a:ea typeface="+mn-lt"/>
                <a:cs typeface="+mn-lt"/>
              </a:rPr>
              <a:t>Rise in AI and Deep Learning Capabilities</a:t>
            </a:r>
            <a:endParaRPr lang="en-US" dirty="0"/>
          </a:p>
          <a:p>
            <a:pPr lvl="1"/>
            <a:r>
              <a:rPr lang="en-US" dirty="0">
                <a:ea typeface="+mn-lt"/>
                <a:cs typeface="+mn-lt"/>
              </a:rPr>
              <a:t>Advances in computer vision and CNNs allow for accurate detection of subtle visual cues like eye closure, blinking rate, and yawning.</a:t>
            </a:r>
            <a:endParaRPr lang="en-US" dirty="0"/>
          </a:p>
          <a:p>
            <a:pPr lvl="1"/>
            <a:r>
              <a:rPr lang="en-US" dirty="0">
                <a:ea typeface="+mn-lt"/>
                <a:cs typeface="+mn-lt"/>
              </a:rPr>
              <a:t>The reliability of these techniques motivates their use in life-critical systems.</a:t>
            </a:r>
            <a:endParaRPr lang="en-US" dirty="0"/>
          </a:p>
          <a:p>
            <a:endParaRPr lang="en-US" dirty="0">
              <a:cs typeface="Arial"/>
            </a:endParaRPr>
          </a:p>
        </p:txBody>
      </p:sp>
    </p:spTree>
    <p:extLst>
      <p:ext uri="{BB962C8B-B14F-4D97-AF65-F5344CB8AC3E}">
        <p14:creationId xmlns:p14="http://schemas.microsoft.com/office/powerpoint/2010/main" val="1591762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EFE1C-0BB3-E581-C7EC-48CE3E180252}"/>
              </a:ext>
            </a:extLst>
          </p:cNvPr>
          <p:cNvSpPr>
            <a:spLocks noGrp="1"/>
          </p:cNvSpPr>
          <p:nvPr>
            <p:ph type="title"/>
          </p:nvPr>
        </p:nvSpPr>
        <p:spPr>
          <a:xfrm>
            <a:off x="838200" y="106333"/>
            <a:ext cx="10558732" cy="592318"/>
          </a:xfrm>
        </p:spPr>
        <p:txBody>
          <a:bodyPr>
            <a:normAutofit fontScale="90000"/>
          </a:bodyPr>
          <a:lstStyle/>
          <a:p>
            <a:r>
              <a:rPr lang="en-US" dirty="0"/>
              <a:t>Literature Survey</a:t>
            </a:r>
          </a:p>
        </p:txBody>
      </p:sp>
      <p:graphicFrame>
        <p:nvGraphicFramePr>
          <p:cNvPr id="7" name="Content Placeholder 6">
            <a:extLst>
              <a:ext uri="{FF2B5EF4-FFF2-40B4-BE49-F238E27FC236}">
                <a16:creationId xmlns:a16="http://schemas.microsoft.com/office/drawing/2014/main" id="{16479E99-FD0B-9D71-A36B-23FF456BB082}"/>
              </a:ext>
            </a:extLst>
          </p:cNvPr>
          <p:cNvGraphicFramePr>
            <a:graphicFrameLocks noGrp="1"/>
          </p:cNvGraphicFramePr>
          <p:nvPr>
            <p:ph idx="1"/>
            <p:extLst>
              <p:ext uri="{D42A27DB-BD31-4B8C-83A1-F6EECF244321}">
                <p14:modId xmlns:p14="http://schemas.microsoft.com/office/powerpoint/2010/main" val="3735546029"/>
              </p:ext>
            </p:extLst>
          </p:nvPr>
        </p:nvGraphicFramePr>
        <p:xfrm>
          <a:off x="546339" y="747622"/>
          <a:ext cx="11160453" cy="5846872"/>
        </p:xfrm>
        <a:graphic>
          <a:graphicData uri="http://schemas.openxmlformats.org/drawingml/2006/table">
            <a:tbl>
              <a:tblPr bandRow="1">
                <a:tableStyleId>{5C22544A-7EE6-4342-B048-85BDC9FD1C3A}</a:tableStyleId>
              </a:tblPr>
              <a:tblGrid>
                <a:gridCol w="742900">
                  <a:extLst>
                    <a:ext uri="{9D8B030D-6E8A-4147-A177-3AD203B41FA5}">
                      <a16:colId xmlns:a16="http://schemas.microsoft.com/office/drawing/2014/main" val="2515750205"/>
                    </a:ext>
                  </a:extLst>
                </a:gridCol>
                <a:gridCol w="2954736">
                  <a:extLst>
                    <a:ext uri="{9D8B030D-6E8A-4147-A177-3AD203B41FA5}">
                      <a16:colId xmlns:a16="http://schemas.microsoft.com/office/drawing/2014/main" val="1168523351"/>
                    </a:ext>
                  </a:extLst>
                </a:gridCol>
                <a:gridCol w="2583283">
                  <a:extLst>
                    <a:ext uri="{9D8B030D-6E8A-4147-A177-3AD203B41FA5}">
                      <a16:colId xmlns:a16="http://schemas.microsoft.com/office/drawing/2014/main" val="1221172263"/>
                    </a:ext>
                  </a:extLst>
                </a:gridCol>
                <a:gridCol w="1543215">
                  <a:extLst>
                    <a:ext uri="{9D8B030D-6E8A-4147-A177-3AD203B41FA5}">
                      <a16:colId xmlns:a16="http://schemas.microsoft.com/office/drawing/2014/main" val="3313480759"/>
                    </a:ext>
                  </a:extLst>
                </a:gridCol>
                <a:gridCol w="3336319">
                  <a:extLst>
                    <a:ext uri="{9D8B030D-6E8A-4147-A177-3AD203B41FA5}">
                      <a16:colId xmlns:a16="http://schemas.microsoft.com/office/drawing/2014/main" val="3984713248"/>
                    </a:ext>
                  </a:extLst>
                </a:gridCol>
              </a:tblGrid>
              <a:tr h="245895">
                <a:tc>
                  <a:txBody>
                    <a:bodyPr/>
                    <a:lstStyle/>
                    <a:p>
                      <a:pPr algn="ctr">
                        <a:buNone/>
                      </a:pPr>
                      <a:r>
                        <a:rPr lang="en-US" sz="1400" b="1" dirty="0">
                          <a:effectLst/>
                          <a:latin typeface="Times New Roman"/>
                          <a:ea typeface="Times New Roman" panose="02020603050405020304" pitchFamily="18" charset="0"/>
                        </a:rPr>
                        <a:t>Sr no</a:t>
                      </a: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400" b="1" dirty="0">
                          <a:effectLst/>
                          <a:latin typeface="Times New Roman"/>
                          <a:ea typeface="Times New Roman" panose="02020603050405020304" pitchFamily="18" charset="0"/>
                        </a:rPr>
                        <a:t>Name of paper</a:t>
                      </a: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400" b="1" dirty="0">
                          <a:effectLst/>
                          <a:latin typeface="Times New Roman"/>
                          <a:ea typeface="Times New Roman" panose="02020603050405020304" pitchFamily="18" charset="0"/>
                        </a:rPr>
                        <a:t>Journal published and year </a:t>
                      </a: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400" b="1" dirty="0">
                          <a:effectLst/>
                          <a:latin typeface="Times New Roman"/>
                          <a:ea typeface="Times New Roman" panose="02020603050405020304" pitchFamily="18" charset="0"/>
                        </a:rPr>
                        <a:t>Author</a:t>
                      </a: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600" b="1" dirty="0">
                          <a:effectLst/>
                          <a:latin typeface="Times New Roman"/>
                          <a:ea typeface="Times New Roman" panose="02020603050405020304" pitchFamily="18" charset="0"/>
                        </a:rPr>
                        <a:t>Summary</a:t>
                      </a: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0079166"/>
                  </a:ext>
                </a:extLst>
              </a:tr>
              <a:tr h="2718522">
                <a:tc>
                  <a:txBody>
                    <a:bodyPr/>
                    <a:lstStyle/>
                    <a:p>
                      <a:pPr algn="ctr">
                        <a:buNone/>
                      </a:pPr>
                      <a:r>
                        <a:rPr lang="en-US" sz="1200" dirty="0">
                          <a:effectLst/>
                          <a:latin typeface="Times New Roman"/>
                          <a:ea typeface="Times New Roman" panose="02020603050405020304" pitchFamily="18" charset="0"/>
                        </a:rPr>
                        <a:t>1.</a:t>
                      </a: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200" dirty="0">
                          <a:effectLst/>
                          <a:latin typeface="Times New Roman"/>
                          <a:ea typeface="Times New Roman" panose="02020603050405020304" pitchFamily="18" charset="0"/>
                        </a:rPr>
                        <a:t>Driver Drowsiness Detection Model Using Convolutional Neural Networks Techniques for Android Application</a:t>
                      </a:r>
                      <a:endParaRPr lang="en-US" dirty="0">
                        <a:effectLst/>
                        <a:latin typeface="Times New Roman"/>
                      </a:endParaRPr>
                    </a:p>
                    <a:p>
                      <a:pPr algn="just">
                        <a:buNone/>
                      </a:pP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dirty="0">
                          <a:effectLst/>
                        </a:rPr>
                        <a:t> International Conference on  Communication, Computing and Virtualization</a:t>
                      </a:r>
                    </a:p>
                    <a:p>
                      <a:pPr>
                        <a:buNone/>
                      </a:pPr>
                      <a:endParaRPr lang="en-US">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200" dirty="0">
                          <a:effectLst/>
                          <a:latin typeface="Times New Roman"/>
                          <a:ea typeface="Times New Roman" panose="02020603050405020304" pitchFamily="18" charset="0"/>
                        </a:rPr>
                        <a:t>Rateb Jabbar, Mohammed Shinoy, Mohamed </a:t>
                      </a:r>
                      <a:r>
                        <a:rPr lang="en-US" sz="1200" err="1">
                          <a:effectLst/>
                          <a:latin typeface="Times New Roman"/>
                          <a:ea typeface="Times New Roman" panose="02020603050405020304" pitchFamily="18" charset="0"/>
                        </a:rPr>
                        <a:t>Kharbeche</a:t>
                      </a:r>
                      <a:r>
                        <a:rPr lang="en-US" sz="1200" dirty="0">
                          <a:effectLst/>
                          <a:latin typeface="Times New Roman"/>
                          <a:ea typeface="Times New Roman" panose="02020603050405020304" pitchFamily="18" charset="0"/>
                        </a:rPr>
                        <a:t>, Khalifa Al-Khalifa, Moez </a:t>
                      </a:r>
                      <a:r>
                        <a:rPr lang="en-US" sz="1200" err="1">
                          <a:effectLst/>
                          <a:latin typeface="Times New Roman"/>
                          <a:ea typeface="Times New Roman" panose="02020603050405020304" pitchFamily="18" charset="0"/>
                        </a:rPr>
                        <a:t>Krichen</a:t>
                      </a:r>
                      <a:r>
                        <a:rPr lang="en-US" sz="1200" dirty="0">
                          <a:effectLst/>
                          <a:latin typeface="Times New Roman"/>
                          <a:ea typeface="Times New Roman" panose="02020603050405020304" pitchFamily="18" charset="0"/>
                        </a:rPr>
                        <a:t>, Kamel </a:t>
                      </a:r>
                      <a:r>
                        <a:rPr lang="en-US" sz="1200" err="1">
                          <a:effectLst/>
                          <a:latin typeface="Times New Roman"/>
                          <a:ea typeface="Times New Roman" panose="02020603050405020304" pitchFamily="18" charset="0"/>
                        </a:rPr>
                        <a:t>Barkaoui</a:t>
                      </a:r>
                      <a:endParaRPr lang="en-US" err="1">
                        <a:effectLst/>
                        <a:latin typeface="Times New Roman"/>
                      </a:endParaRPr>
                    </a:p>
                    <a:p>
                      <a:pPr algn="just">
                        <a:buNone/>
                      </a:pP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b="1" dirty="0">
                          <a:effectLst/>
                          <a:latin typeface="Times New Roman"/>
                        </a:rPr>
                        <a:t>Approach</a:t>
                      </a:r>
                      <a:r>
                        <a:rPr lang="en-US" sz="1200" dirty="0">
                          <a:effectLst/>
                          <a:latin typeface="Times New Roman"/>
                        </a:rPr>
                        <a:t>: The authors propose a CNN-based drowsiness detection framework tailored for Android devices. It uses facial landmark extraction (via </a:t>
                      </a:r>
                      <a:r>
                        <a:rPr lang="en-US" sz="1200" err="1">
                          <a:effectLst/>
                          <a:latin typeface="Times New Roman"/>
                        </a:rPr>
                        <a:t>Dlib</a:t>
                      </a:r>
                      <a:r>
                        <a:rPr lang="en-US" sz="1200" dirty="0">
                          <a:effectLst/>
                          <a:latin typeface="Times New Roman"/>
                        </a:rPr>
                        <a:t>) to analyze eye movement and facial orientation, classifying drowsiness in real-time using images from the NTHU-DDD dataset.</a:t>
                      </a:r>
                      <a:endParaRPr lang="en-US" dirty="0">
                        <a:effectLst/>
                        <a:latin typeface="Times New Roman"/>
                      </a:endParaRPr>
                    </a:p>
                    <a:p>
                      <a:pPr>
                        <a:buNone/>
                      </a:pPr>
                      <a:r>
                        <a:rPr lang="en-US" sz="1200" b="1" dirty="0">
                          <a:effectLst/>
                          <a:latin typeface="Times New Roman"/>
                        </a:rPr>
                        <a:t>Innovation</a:t>
                      </a:r>
                      <a:r>
                        <a:rPr lang="en-US" sz="1200" dirty="0">
                          <a:effectLst/>
                          <a:latin typeface="Times New Roman"/>
                        </a:rPr>
                        <a:t>: Prioritizing computational efficiency, the model maintains a memory size of just 75 KB while achieving over 83% accuracy across multiple conditions (day/night, with/without glasses). The work bridges deep learning with mobile computing for accessible and scalable deployment.</a:t>
                      </a:r>
                      <a:endParaRPr lang="en-US" dirty="0">
                        <a:effectLst/>
                        <a:latin typeface="Times New Roman"/>
                      </a:endParaRPr>
                    </a:p>
                    <a:p>
                      <a:pPr marL="457200">
                        <a:buNone/>
                      </a:pP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0226554"/>
                  </a:ext>
                </a:extLst>
              </a:tr>
              <a:tr h="2882455">
                <a:tc>
                  <a:txBody>
                    <a:bodyPr/>
                    <a:lstStyle/>
                    <a:p>
                      <a:pPr algn="ctr">
                        <a:buNone/>
                      </a:pPr>
                      <a:r>
                        <a:rPr lang="en-US" sz="1200" dirty="0">
                          <a:effectLst/>
                          <a:latin typeface="Times New Roman"/>
                          <a:ea typeface="Times New Roman" panose="02020603050405020304" pitchFamily="18" charset="0"/>
                        </a:rPr>
                        <a:t>2.</a:t>
                      </a: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200" dirty="0">
                          <a:effectLst/>
                          <a:latin typeface="Times New Roman"/>
                          <a:ea typeface="Times New Roman" panose="02020603050405020304" pitchFamily="18" charset="0"/>
                        </a:rPr>
                        <a:t>Driver Drowsiness Detection System Using CNN</a:t>
                      </a:r>
                      <a:endParaRPr lang="en-US" dirty="0">
                        <a:effectLst/>
                        <a:latin typeface="Times New Roman"/>
                      </a:endParaRPr>
                    </a:p>
                    <a:p>
                      <a:pPr algn="just">
                        <a:buNone/>
                      </a:pP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kern="1200" dirty="0">
                          <a:solidFill>
                            <a:srgbClr val="000000"/>
                          </a:solidFill>
                          <a:effectLst/>
                          <a:ea typeface="+mn-ea"/>
                        </a:rPr>
                        <a:t>International Journal of Science, Engineering and Technology (IJSET), Vol. 10, Issue 2, 2022</a:t>
                      </a:r>
                      <a:endParaRPr lang="en-US" dirty="0">
                        <a:effectLst/>
                      </a:endParaRPr>
                    </a:p>
                    <a:p>
                      <a:pPr algn="just">
                        <a:buNone/>
                      </a:pP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200" dirty="0">
                          <a:effectLst/>
                          <a:latin typeface="Times New Roman"/>
                          <a:ea typeface="Times New Roman" panose="02020603050405020304" pitchFamily="18" charset="0"/>
                        </a:rPr>
                        <a:t>Soumya Agarwal, Dr. M.N. </a:t>
                      </a:r>
                      <a:r>
                        <a:rPr lang="en-US" sz="1200" dirty="0" err="1">
                          <a:effectLst/>
                          <a:latin typeface="Times New Roman"/>
                          <a:ea typeface="Times New Roman" panose="02020603050405020304" pitchFamily="18" charset="0"/>
                        </a:rPr>
                        <a:t>Nachappa</a:t>
                      </a:r>
                      <a:endParaRPr lang="en-US" dirty="0" err="1">
                        <a:effectLst/>
                        <a:latin typeface="Times New Roman"/>
                      </a:endParaRPr>
                    </a:p>
                    <a:p>
                      <a:pPr algn="just">
                        <a:buNone/>
                      </a:pP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b="1" dirty="0">
                          <a:solidFill>
                            <a:srgbClr val="000000"/>
                          </a:solidFill>
                          <a:effectLst/>
                        </a:rPr>
                        <a:t>Approach:</a:t>
                      </a:r>
                      <a:r>
                        <a:rPr lang="en-US" sz="1200" dirty="0">
                          <a:solidFill>
                            <a:srgbClr val="000000"/>
                          </a:solidFill>
                          <a:effectLst/>
                        </a:rPr>
                        <a:t> A CNN model is trained on a dataset of 30,000 images to detect driver fatigue through eye state analysis using webcam input. The system uses a multi-layer CNN architecture, with convolutional and pooling layers feeding into fully connected layers, classifying eye openness in real-time.</a:t>
                      </a:r>
                      <a:endParaRPr lang="en-US" dirty="0">
                        <a:effectLst/>
                      </a:endParaRPr>
                    </a:p>
                    <a:p>
                      <a:pPr>
                        <a:buNone/>
                      </a:pPr>
                      <a:r>
                        <a:rPr lang="en-US" sz="1200" b="1" dirty="0">
                          <a:solidFill>
                            <a:srgbClr val="000000"/>
                          </a:solidFill>
                          <a:effectLst/>
                        </a:rPr>
                        <a:t>Innovation:</a:t>
                      </a:r>
                      <a:r>
                        <a:rPr lang="en-US" sz="1200" dirty="0">
                          <a:solidFill>
                            <a:srgbClr val="000000"/>
                          </a:solidFill>
                          <a:effectLst/>
                        </a:rPr>
                        <a:t> With an accuracy of 96–98%, the model provides timely audio alerts for closed-eye duration exceeding thresholds. It is designed for deployment on low-resource devices and emphasizes scalable safety applications for commercial vehicles and public transportation systems.</a:t>
                      </a:r>
                      <a:endParaRPr lang="en-US" dirty="0">
                        <a:effectLst/>
                      </a:endParaRPr>
                    </a:p>
                    <a:p>
                      <a:pPr>
                        <a:buNone/>
                      </a:pPr>
                      <a:endParaRPr lang="en-US" dirty="0">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9070248"/>
                  </a:ext>
                </a:extLst>
              </a:tr>
            </a:tbl>
          </a:graphicData>
        </a:graphic>
      </p:graphicFrame>
    </p:spTree>
    <p:extLst>
      <p:ext uri="{BB962C8B-B14F-4D97-AF65-F5344CB8AC3E}">
        <p14:creationId xmlns:p14="http://schemas.microsoft.com/office/powerpoint/2010/main" val="2004677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grpSp>
        <p:nvGrpSpPr>
          <p:cNvPr id="24"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27" name="Freeform: Shape 26">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5" name="Content Placeholder 4">
            <a:extLst>
              <a:ext uri="{FF2B5EF4-FFF2-40B4-BE49-F238E27FC236}">
                <a16:creationId xmlns:a16="http://schemas.microsoft.com/office/drawing/2014/main" id="{C272762C-D18B-CE13-2038-B8ED706232C2}"/>
              </a:ext>
            </a:extLst>
          </p:cNvPr>
          <p:cNvGraphicFramePr>
            <a:graphicFrameLocks noGrp="1"/>
          </p:cNvGraphicFramePr>
          <p:nvPr>
            <p:ph idx="1"/>
            <p:extLst>
              <p:ext uri="{D42A27DB-BD31-4B8C-83A1-F6EECF244321}">
                <p14:modId xmlns:p14="http://schemas.microsoft.com/office/powerpoint/2010/main" val="2088874441"/>
              </p:ext>
            </p:extLst>
          </p:nvPr>
        </p:nvGraphicFramePr>
        <p:xfrm>
          <a:off x="675735" y="618226"/>
          <a:ext cx="10676803" cy="5465854"/>
        </p:xfrm>
        <a:graphic>
          <a:graphicData uri="http://schemas.openxmlformats.org/drawingml/2006/table">
            <a:tbl>
              <a:tblPr bandRow="1">
                <a:tableStyleId>{5C22544A-7EE6-4342-B048-85BDC9FD1C3A}</a:tableStyleId>
              </a:tblPr>
              <a:tblGrid>
                <a:gridCol w="335447">
                  <a:extLst>
                    <a:ext uri="{9D8B030D-6E8A-4147-A177-3AD203B41FA5}">
                      <a16:colId xmlns:a16="http://schemas.microsoft.com/office/drawing/2014/main" val="2139969146"/>
                    </a:ext>
                  </a:extLst>
                </a:gridCol>
                <a:gridCol w="2256274">
                  <a:extLst>
                    <a:ext uri="{9D8B030D-6E8A-4147-A177-3AD203B41FA5}">
                      <a16:colId xmlns:a16="http://schemas.microsoft.com/office/drawing/2014/main" val="3459492918"/>
                    </a:ext>
                  </a:extLst>
                </a:gridCol>
                <a:gridCol w="2069915">
                  <a:extLst>
                    <a:ext uri="{9D8B030D-6E8A-4147-A177-3AD203B41FA5}">
                      <a16:colId xmlns:a16="http://schemas.microsoft.com/office/drawing/2014/main" val="848179705"/>
                    </a:ext>
                  </a:extLst>
                </a:gridCol>
                <a:gridCol w="2069915">
                  <a:extLst>
                    <a:ext uri="{9D8B030D-6E8A-4147-A177-3AD203B41FA5}">
                      <a16:colId xmlns:a16="http://schemas.microsoft.com/office/drawing/2014/main" val="3175025234"/>
                    </a:ext>
                  </a:extLst>
                </a:gridCol>
                <a:gridCol w="3945252">
                  <a:extLst>
                    <a:ext uri="{9D8B030D-6E8A-4147-A177-3AD203B41FA5}">
                      <a16:colId xmlns:a16="http://schemas.microsoft.com/office/drawing/2014/main" val="1380562026"/>
                    </a:ext>
                  </a:extLst>
                </a:gridCol>
              </a:tblGrid>
              <a:tr h="2622510">
                <a:tc>
                  <a:txBody>
                    <a:bodyPr/>
                    <a:lstStyle/>
                    <a:p>
                      <a:pPr algn="ctr">
                        <a:buNone/>
                      </a:pPr>
                      <a:r>
                        <a:rPr lang="en-US" sz="1100">
                          <a:effectLst/>
                          <a:latin typeface="Times New Roman" panose="02020603050405020304" pitchFamily="18" charset="0"/>
                          <a:ea typeface="Times New Roman" panose="02020603050405020304" pitchFamily="18" charset="0"/>
                        </a:rPr>
                        <a:t>3.</a:t>
                      </a:r>
                      <a:endParaRPr lang="en-U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100">
                          <a:effectLst/>
                          <a:latin typeface="Times New Roman" panose="02020603050405020304" pitchFamily="18" charset="0"/>
                          <a:ea typeface="Times New Roman" panose="02020603050405020304" pitchFamily="18" charset="0"/>
                        </a:rPr>
                        <a:t>Facial Region of Interest Based Driver Drowsiness Detection Using CNN Models</a:t>
                      </a:r>
                      <a:endParaRPr lang="en-US" sz="1600">
                        <a:effectLst/>
                      </a:endParaRPr>
                    </a:p>
                    <a:p>
                      <a:pPr algn="just">
                        <a:buNone/>
                      </a:pPr>
                      <a:r>
                        <a:rPr lang="en-US" sz="1500">
                          <a:effectLst/>
                          <a:latin typeface="Times New Roman" panose="02020603050405020304" pitchFamily="18" charset="0"/>
                          <a:ea typeface="Times New Roman" panose="02020603050405020304" pitchFamily="18" charset="0"/>
                        </a:rPr>
                        <a:t> </a:t>
                      </a:r>
                      <a:endParaRPr lang="en-U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100">
                          <a:effectLst/>
                          <a:latin typeface="Times New Roman" panose="02020603050405020304" pitchFamily="18" charset="0"/>
                          <a:ea typeface="Times New Roman" panose="02020603050405020304" pitchFamily="18" charset="0"/>
                        </a:rPr>
                        <a:t>Applied Sciences (MDPI), 2023</a:t>
                      </a:r>
                      <a:endParaRPr lang="en-US" sz="1600">
                        <a:effectLst/>
                      </a:endParaRPr>
                    </a:p>
                    <a:p>
                      <a:pPr algn="just">
                        <a:buNone/>
                      </a:pPr>
                      <a:r>
                        <a:rPr lang="en-US" sz="1100">
                          <a:effectLst/>
                          <a:latin typeface="Times New Roman" panose="02020603050405020304" pitchFamily="18" charset="0"/>
                          <a:ea typeface="Times New Roman" panose="02020603050405020304" pitchFamily="18" charset="0"/>
                        </a:rPr>
                        <a:t> </a:t>
                      </a:r>
                      <a:endParaRPr lang="en-US" sz="1600">
                        <a:effectLst/>
                      </a:endParaRPr>
                    </a:p>
                    <a:p>
                      <a:pPr algn="just">
                        <a:buNone/>
                      </a:pPr>
                      <a:r>
                        <a:rPr lang="en-US" sz="1100">
                          <a:effectLst/>
                          <a:latin typeface="Times New Roman" panose="02020603050405020304" pitchFamily="18" charset="0"/>
                          <a:ea typeface="Times New Roman" panose="02020603050405020304" pitchFamily="18" charset="0"/>
                        </a:rPr>
                        <a:t> </a:t>
                      </a:r>
                      <a:endParaRPr lang="en-U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s-ES" sz="1100">
                          <a:effectLst/>
                          <a:latin typeface="Times New Roman" panose="02020603050405020304" pitchFamily="18" charset="0"/>
                          <a:ea typeface="Times New Roman" panose="02020603050405020304" pitchFamily="18" charset="0"/>
                        </a:rPr>
                        <a:t>Wilson Florez, Miguel A. Rodriguez, Jeysson H. Pedraza, Juan C. Fernandez, Carlos E. Montenegr</a:t>
                      </a:r>
                      <a:endParaRPr lang="es-E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b="1">
                          <a:effectLst/>
                          <a:latin typeface="Times New Roman" panose="02020603050405020304" pitchFamily="18" charset="0"/>
                          <a:ea typeface="Times New Roman" panose="02020603050405020304" pitchFamily="18" charset="0"/>
                        </a:rPr>
                        <a:t>Approach</a:t>
                      </a:r>
                      <a:r>
                        <a:rPr lang="en-US" sz="1100">
                          <a:effectLst/>
                          <a:latin typeface="Times New Roman" panose="02020603050405020304" pitchFamily="18" charset="0"/>
                          <a:ea typeface="Times New Roman" panose="02020603050405020304" pitchFamily="18" charset="0"/>
                        </a:rPr>
                        <a:t>: A comparative analysis of CNN architectures (InceptionV3, VGG16, ResNet50V2) is presented for eye-state classification using the NITYMED dataset, with MediaPipe utilized to precisely extract eye regions. The model detects drowsiness by analyzing blink duration and frequency in dynamic, real-world scenarios.</a:t>
                      </a:r>
                      <a:endParaRPr lang="en-US" sz="1600">
                        <a:effectLst/>
                      </a:endParaRPr>
                    </a:p>
                    <a:p>
                      <a:pPr>
                        <a:buNone/>
                      </a:pPr>
                      <a:r>
                        <a:rPr lang="en-US" sz="1100" b="1">
                          <a:effectLst/>
                          <a:latin typeface="Times New Roman" panose="02020603050405020304" pitchFamily="18" charset="0"/>
                          <a:ea typeface="Times New Roman" panose="02020603050405020304" pitchFamily="18" charset="0"/>
                        </a:rPr>
                        <a:t>Innovation</a:t>
                      </a:r>
                      <a:r>
                        <a:rPr lang="en-US" sz="1100">
                          <a:effectLst/>
                          <a:latin typeface="Times New Roman" panose="02020603050405020304" pitchFamily="18" charset="0"/>
                          <a:ea typeface="Times New Roman" panose="02020603050405020304" pitchFamily="18" charset="0"/>
                        </a:rPr>
                        <a:t>: The research introduces a novel ROI correction method to maintain eye tracking accuracy during head movement. ResNet50V2 outperforms other architectures, achieving 99.71% accuracy, and visualization via Grad-CAM supports explainable AI in safety-critical applications.</a:t>
                      </a:r>
                      <a:endParaRPr lang="en-US" sz="1600">
                        <a:effectLst/>
                      </a:endParaRPr>
                    </a:p>
                    <a:p>
                      <a:pPr>
                        <a:buNone/>
                      </a:pPr>
                      <a:r>
                        <a:rPr lang="en-US" sz="1100">
                          <a:effectLst/>
                          <a:latin typeface="Times New Roman" panose="02020603050405020304" pitchFamily="18" charset="0"/>
                          <a:ea typeface="Times New Roman" panose="02020603050405020304" pitchFamily="18" charset="0"/>
                        </a:rPr>
                        <a:t> </a:t>
                      </a:r>
                      <a:endParaRPr lang="en-U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180628"/>
                  </a:ext>
                </a:extLst>
              </a:tr>
              <a:tr h="2843344">
                <a:tc>
                  <a:txBody>
                    <a:bodyPr/>
                    <a:lstStyle/>
                    <a:p>
                      <a:pPr algn="ctr">
                        <a:buNone/>
                      </a:pPr>
                      <a:r>
                        <a:rPr lang="en-US" sz="1100">
                          <a:effectLst/>
                          <a:latin typeface="Times New Roman" panose="02020603050405020304" pitchFamily="18" charset="0"/>
                          <a:ea typeface="Times New Roman" panose="02020603050405020304" pitchFamily="18" charset="0"/>
                        </a:rPr>
                        <a:t>4.</a:t>
                      </a:r>
                      <a:endParaRPr lang="en-U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100">
                          <a:effectLst/>
                          <a:latin typeface="Times New Roman" panose="02020603050405020304" pitchFamily="18" charset="0"/>
                          <a:ea typeface="Times New Roman" panose="02020603050405020304" pitchFamily="18" charset="0"/>
                        </a:rPr>
                        <a:t>Driver Drowsiness Detection System Using CNN</a:t>
                      </a:r>
                      <a:endParaRPr lang="en-U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100">
                          <a:effectLst/>
                          <a:latin typeface="Times New Roman" panose="02020603050405020304" pitchFamily="18" charset="0"/>
                          <a:ea typeface="Times New Roman" panose="02020603050405020304" pitchFamily="18" charset="0"/>
                        </a:rPr>
                        <a:t>International Journal of Research and Analytical Reviews (IJRAR), Vol. 8, Issue 3, July 2021</a:t>
                      </a:r>
                      <a:endParaRPr lang="en-U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100">
                          <a:effectLst/>
                          <a:latin typeface="Times New Roman" panose="02020603050405020304" pitchFamily="18" charset="0"/>
                          <a:ea typeface="Times New Roman" panose="02020603050405020304" pitchFamily="18" charset="0"/>
                        </a:rPr>
                        <a:t>Sushmita Prasad, Nihal Shaikh, Trushita Jadhav, Robin Sen, Pushkar Sath</a:t>
                      </a:r>
                      <a:endParaRPr lang="en-U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b="1">
                          <a:effectLst/>
                          <a:latin typeface="Times New Roman" panose="02020603050405020304" pitchFamily="18" charset="0"/>
                          <a:ea typeface="Times New Roman" panose="02020603050405020304" pitchFamily="18" charset="0"/>
                        </a:rPr>
                        <a:t>Approach</a:t>
                      </a:r>
                      <a:r>
                        <a:rPr lang="en-US" sz="1100">
                          <a:effectLst/>
                          <a:latin typeface="Times New Roman" panose="02020603050405020304" pitchFamily="18" charset="0"/>
                          <a:ea typeface="Times New Roman" panose="02020603050405020304" pitchFamily="18" charset="0"/>
                        </a:rPr>
                        <a:t>: The authors developed a real-time driver drowsiness detection system using Convolutional Neural Networks (CNNs) to analyze eye closure over time. By processing video frames through OpenCV and TensorFlow, the system detects prolonged eye closure and triggers an alarm, effectively translating temporal visual features into fatigue cues.</a:t>
                      </a:r>
                      <a:endParaRPr lang="en-US" sz="1600">
                        <a:effectLst/>
                      </a:endParaRPr>
                    </a:p>
                    <a:p>
                      <a:pPr>
                        <a:buNone/>
                      </a:pPr>
                      <a:r>
                        <a:rPr lang="en-US" sz="1100" b="1">
                          <a:effectLst/>
                          <a:latin typeface="Times New Roman" panose="02020603050405020304" pitchFamily="18" charset="0"/>
                          <a:ea typeface="Times New Roman" panose="02020603050405020304" pitchFamily="18" charset="0"/>
                        </a:rPr>
                        <a:t>Innovation</a:t>
                      </a:r>
                      <a:r>
                        <a:rPr lang="en-US" sz="1100">
                          <a:effectLst/>
                          <a:latin typeface="Times New Roman" panose="02020603050405020304" pitchFamily="18" charset="0"/>
                          <a:ea typeface="Times New Roman" panose="02020603050405020304" pitchFamily="18" charset="0"/>
                        </a:rPr>
                        <a:t>: They integrated boosting with weak classifiers (decision stumps) to iteratively enhance model accuracy, addressing common issues in traditional systems such as sensitivity to illumination changes. The model’s lightweight design makes it suitable for deployment on Android and embedded systems.</a:t>
                      </a:r>
                      <a:endParaRPr lang="en-US" sz="1600">
                        <a:effectLst/>
                      </a:endParaRPr>
                    </a:p>
                    <a:p>
                      <a:pPr>
                        <a:buNone/>
                      </a:pPr>
                      <a:r>
                        <a:rPr lang="en-US" sz="1100">
                          <a:effectLst/>
                          <a:latin typeface="Times New Roman" panose="02020603050405020304" pitchFamily="18" charset="0"/>
                          <a:ea typeface="Times New Roman" panose="02020603050405020304" pitchFamily="18" charset="0"/>
                        </a:rPr>
                        <a:t> </a:t>
                      </a:r>
                      <a:endParaRPr lang="en-US" sz="1600">
                        <a:effectLst/>
                      </a:endParaRPr>
                    </a:p>
                  </a:txBody>
                  <a:tcPr marL="62435" marR="62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2410132"/>
                  </a:ext>
                </a:extLst>
              </a:tr>
            </a:tbl>
          </a:graphicData>
        </a:graphic>
      </p:graphicFrame>
    </p:spTree>
    <p:extLst>
      <p:ext uri="{BB962C8B-B14F-4D97-AF65-F5344CB8AC3E}">
        <p14:creationId xmlns:p14="http://schemas.microsoft.com/office/powerpoint/2010/main" val="624121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5E5536F2-BB10-4970-9C95-51CCDE8842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D84F3307-86CF-47A4-8B2D-4630B124C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6EB78D62-DD46-4526-87D7-73C7AE4622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73149E71-5828-490B-97F7-04AE78073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1280A038-99E0-4B3A-9D3E-3E9CF2E9BE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FFF87F6E-69A2-4944-9B64-76780737D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8A70C5CB-9CC7-44D6-B2B7-239694D83B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B6EFB0E4-14CB-4396-8BE4-0D078635E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4B51C875-4AA4-432D-B78E-F6EAA927C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grpSp>
        <p:nvGrpSpPr>
          <p:cNvPr id="24" name="Bottom Right">
            <a:extLst>
              <a:ext uri="{FF2B5EF4-FFF2-40B4-BE49-F238E27FC236}">
                <a16:creationId xmlns:a16="http://schemas.microsoft.com/office/drawing/2014/main" id="{4E8659C6-7D51-4002-BCB2-0B4CA79E3F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778A2000-2B7A-4C51-9F5B-3C56C33608D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27" name="Freeform: Shape 26">
                <a:extLst>
                  <a:ext uri="{FF2B5EF4-FFF2-40B4-BE49-F238E27FC236}">
                    <a16:creationId xmlns:a16="http://schemas.microsoft.com/office/drawing/2014/main" id="{26C48C0A-3D52-4FD2-BE0C-FE34279A9B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9A1EDE11-4610-4620-A5D6-76CD71FC6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93056628-E485-4BB3-98E4-E15AB3695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C0E026E3-4E37-4419-A836-D9EDEE686F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0DDC5E35-4BDE-467F-8284-1E0CFF733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5BD492C1-3F38-4A64-A6CC-6530A51509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65A0440B-06F4-454E-88CF-8AD4814FF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6E9C0DF6-725A-4826-BB35-CC8D0EAC3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5" name="Content Placeholder 4">
            <a:extLst>
              <a:ext uri="{FF2B5EF4-FFF2-40B4-BE49-F238E27FC236}">
                <a16:creationId xmlns:a16="http://schemas.microsoft.com/office/drawing/2014/main" id="{1E3EE1E2-47A3-6A23-1B2E-F44411D4F07F}"/>
              </a:ext>
            </a:extLst>
          </p:cNvPr>
          <p:cNvGraphicFramePr>
            <a:graphicFrameLocks noGrp="1"/>
          </p:cNvGraphicFramePr>
          <p:nvPr>
            <p:ph idx="1"/>
          </p:nvPr>
        </p:nvGraphicFramePr>
        <p:xfrm>
          <a:off x="838200" y="1873314"/>
          <a:ext cx="10515603" cy="4343400"/>
        </p:xfrm>
        <a:graphic>
          <a:graphicData uri="http://schemas.openxmlformats.org/drawingml/2006/table">
            <a:tbl>
              <a:tblPr bandRow="1">
                <a:tableStyleId>{5C22544A-7EE6-4342-B048-85BDC9FD1C3A}</a:tableStyleId>
              </a:tblPr>
              <a:tblGrid>
                <a:gridCol w="439866">
                  <a:extLst>
                    <a:ext uri="{9D8B030D-6E8A-4147-A177-3AD203B41FA5}">
                      <a16:colId xmlns:a16="http://schemas.microsoft.com/office/drawing/2014/main" val="524702183"/>
                    </a:ext>
                  </a:extLst>
                </a:gridCol>
                <a:gridCol w="2835460">
                  <a:extLst>
                    <a:ext uri="{9D8B030D-6E8A-4147-A177-3AD203B41FA5}">
                      <a16:colId xmlns:a16="http://schemas.microsoft.com/office/drawing/2014/main" val="74830661"/>
                    </a:ext>
                  </a:extLst>
                </a:gridCol>
                <a:gridCol w="2508351">
                  <a:extLst>
                    <a:ext uri="{9D8B030D-6E8A-4147-A177-3AD203B41FA5}">
                      <a16:colId xmlns:a16="http://schemas.microsoft.com/office/drawing/2014/main" val="1401447225"/>
                    </a:ext>
                  </a:extLst>
                </a:gridCol>
                <a:gridCol w="1590522">
                  <a:extLst>
                    <a:ext uri="{9D8B030D-6E8A-4147-A177-3AD203B41FA5}">
                      <a16:colId xmlns:a16="http://schemas.microsoft.com/office/drawing/2014/main" val="1795501938"/>
                    </a:ext>
                  </a:extLst>
                </a:gridCol>
                <a:gridCol w="3141404">
                  <a:extLst>
                    <a:ext uri="{9D8B030D-6E8A-4147-A177-3AD203B41FA5}">
                      <a16:colId xmlns:a16="http://schemas.microsoft.com/office/drawing/2014/main" val="1755317128"/>
                    </a:ext>
                  </a:extLst>
                </a:gridCol>
              </a:tblGrid>
              <a:tr h="4255961">
                <a:tc>
                  <a:txBody>
                    <a:bodyPr/>
                    <a:lstStyle/>
                    <a:p>
                      <a:pPr algn="ctr">
                        <a:buNone/>
                      </a:pPr>
                      <a:r>
                        <a:rPr lang="en-US" sz="1500">
                          <a:effectLst/>
                          <a:latin typeface="Times New Roman" panose="02020603050405020304" pitchFamily="18" charset="0"/>
                          <a:ea typeface="Times New Roman" panose="02020603050405020304" pitchFamily="18" charset="0"/>
                        </a:rPr>
                        <a:t>5.</a:t>
                      </a:r>
                      <a:endParaRPr lang="en-US" sz="2200">
                        <a:effectLst/>
                      </a:endParaRPr>
                    </a:p>
                  </a:txBody>
                  <a:tcPr marL="83124" marR="831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500">
                          <a:effectLst/>
                          <a:latin typeface="Times New Roman" panose="02020603050405020304" pitchFamily="18" charset="0"/>
                          <a:ea typeface="Times New Roman" panose="02020603050405020304" pitchFamily="18" charset="0"/>
                        </a:rPr>
                        <a:t>Drowsiness Detection in Real-Time via Convolutional Neural Networks and Transfer Learning</a:t>
                      </a:r>
                      <a:endParaRPr lang="en-US" sz="2200">
                        <a:effectLst/>
                      </a:endParaRPr>
                    </a:p>
                  </a:txBody>
                  <a:tcPr marL="83124" marR="831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500">
                          <a:effectLst/>
                          <a:latin typeface="Times New Roman" panose="02020603050405020304" pitchFamily="18" charset="0"/>
                          <a:ea typeface="Times New Roman" panose="02020603050405020304" pitchFamily="18" charset="0"/>
                        </a:rPr>
                        <a:t>Journal of Engineering and Applied Science, 2024 (Vol. 71:122)</a:t>
                      </a:r>
                      <a:endParaRPr lang="en-US" sz="2200">
                        <a:effectLst/>
                      </a:endParaRPr>
                    </a:p>
                  </a:txBody>
                  <a:tcPr marL="83124" marR="831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500">
                          <a:effectLst/>
                          <a:latin typeface="Times New Roman" panose="02020603050405020304" pitchFamily="18" charset="0"/>
                          <a:ea typeface="Times New Roman" panose="02020603050405020304" pitchFamily="18" charset="0"/>
                        </a:rPr>
                        <a:t>Dina Salem and Mohamed Waleed</a:t>
                      </a:r>
                      <a:endParaRPr lang="en-US" sz="2200">
                        <a:effectLst/>
                      </a:endParaRPr>
                    </a:p>
                  </a:txBody>
                  <a:tcPr marL="83124" marR="831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500" b="1">
                          <a:effectLst/>
                          <a:latin typeface="Times New Roman" panose="02020603050405020304" pitchFamily="18" charset="0"/>
                          <a:ea typeface="Times New Roman" panose="02020603050405020304" pitchFamily="18" charset="0"/>
                        </a:rPr>
                        <a:t>Approach</a:t>
                      </a:r>
                      <a:r>
                        <a:rPr lang="en-US" sz="1500">
                          <a:effectLst/>
                          <a:latin typeface="Times New Roman" panose="02020603050405020304" pitchFamily="18" charset="0"/>
                          <a:ea typeface="Times New Roman" panose="02020603050405020304" pitchFamily="18" charset="0"/>
                        </a:rPr>
                        <a:t>: This study applies transfer learning with pre-trained CNN architectures (e.g., InceptionV3) to detect drowsiness by classifying eye states (open, closed, yawning) using datasets like YAWDD and MRL. The model processes diverse visual cues from facial images and achieves high generalization through fine-tuning on domain-specific datasets.</a:t>
                      </a:r>
                      <a:endParaRPr lang="en-US" sz="2200">
                        <a:effectLst/>
                      </a:endParaRPr>
                    </a:p>
                    <a:p>
                      <a:pPr>
                        <a:buNone/>
                      </a:pPr>
                      <a:r>
                        <a:rPr lang="en-US" sz="1500" b="1">
                          <a:effectLst/>
                          <a:latin typeface="Times New Roman" panose="02020603050405020304" pitchFamily="18" charset="0"/>
                          <a:ea typeface="Times New Roman" panose="02020603050405020304" pitchFamily="18" charset="0"/>
                        </a:rPr>
                        <a:t>Innovation</a:t>
                      </a:r>
                      <a:r>
                        <a:rPr lang="en-US" sz="1500">
                          <a:effectLst/>
                          <a:latin typeface="Times New Roman" panose="02020603050405020304" pitchFamily="18" charset="0"/>
                          <a:ea typeface="Times New Roman" panose="02020603050405020304" pitchFamily="18" charset="0"/>
                        </a:rPr>
                        <a:t>: The system achieves up to 99.86% accuracy in multi-class classification and includes a mobile application with a real-time alert system. Techniques like Grad-CAM are used to visualize feature attention, improving interpretability and model trustworthiness.</a:t>
                      </a:r>
                      <a:endParaRPr lang="en-US" sz="2200">
                        <a:effectLst/>
                      </a:endParaRPr>
                    </a:p>
                    <a:p>
                      <a:pPr>
                        <a:buNone/>
                      </a:pPr>
                      <a:r>
                        <a:rPr lang="en-US" sz="1500">
                          <a:effectLst/>
                          <a:latin typeface="Times New Roman" panose="02020603050405020304" pitchFamily="18" charset="0"/>
                          <a:ea typeface="Times New Roman" panose="02020603050405020304" pitchFamily="18" charset="0"/>
                        </a:rPr>
                        <a:t> </a:t>
                      </a:r>
                      <a:endParaRPr lang="en-US" sz="2200">
                        <a:effectLst/>
                      </a:endParaRPr>
                    </a:p>
                  </a:txBody>
                  <a:tcPr marL="83124" marR="831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0833355"/>
                  </a:ext>
                </a:extLst>
              </a:tr>
            </a:tbl>
          </a:graphicData>
        </a:graphic>
      </p:graphicFrame>
    </p:spTree>
    <p:extLst>
      <p:ext uri="{BB962C8B-B14F-4D97-AF65-F5344CB8AC3E}">
        <p14:creationId xmlns:p14="http://schemas.microsoft.com/office/powerpoint/2010/main" val="3910460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8B059-C463-78A3-3B00-6B6593F189CC}"/>
              </a:ext>
            </a:extLst>
          </p:cNvPr>
          <p:cNvSpPr>
            <a:spLocks noGrp="1"/>
          </p:cNvSpPr>
          <p:nvPr>
            <p:ph type="title"/>
          </p:nvPr>
        </p:nvSpPr>
        <p:spPr>
          <a:xfrm>
            <a:off x="838200" y="365125"/>
            <a:ext cx="10515600" cy="707337"/>
          </a:xfrm>
        </p:spPr>
        <p:txBody>
          <a:bodyPr>
            <a:normAutofit fontScale="90000"/>
          </a:bodyPr>
          <a:lstStyle/>
          <a:p>
            <a:r>
              <a:rPr lang="en-US" dirty="0"/>
              <a:t>Summary / finding of literature Survey</a:t>
            </a:r>
          </a:p>
        </p:txBody>
      </p:sp>
      <p:sp>
        <p:nvSpPr>
          <p:cNvPr id="3" name="Content Placeholder 2">
            <a:extLst>
              <a:ext uri="{FF2B5EF4-FFF2-40B4-BE49-F238E27FC236}">
                <a16:creationId xmlns:a16="http://schemas.microsoft.com/office/drawing/2014/main" id="{E621CDE2-3E64-3755-B998-4E681FDD26AF}"/>
              </a:ext>
            </a:extLst>
          </p:cNvPr>
          <p:cNvSpPr>
            <a:spLocks noGrp="1"/>
          </p:cNvSpPr>
          <p:nvPr>
            <p:ph idx="1"/>
          </p:nvPr>
        </p:nvSpPr>
        <p:spPr>
          <a:xfrm>
            <a:off x="838200" y="1236154"/>
            <a:ext cx="10515600" cy="5257110"/>
          </a:xfrm>
        </p:spPr>
        <p:txBody>
          <a:bodyPr vert="horz" lIns="91440" tIns="45720" rIns="91440" bIns="45720" rtlCol="0" anchor="t">
            <a:normAutofit fontScale="70000" lnSpcReduction="20000"/>
          </a:bodyPr>
          <a:lstStyle/>
          <a:p>
            <a:r>
              <a:rPr lang="en-US" b="1">
                <a:ea typeface="+mn-lt"/>
                <a:cs typeface="+mn-lt"/>
              </a:rPr>
              <a:t>CNNs as the Core Technique</a:t>
            </a:r>
            <a:br>
              <a:rPr lang="en-US" dirty="0">
                <a:ea typeface="+mn-lt"/>
                <a:cs typeface="+mn-lt"/>
              </a:rPr>
            </a:br>
            <a:r>
              <a:rPr lang="en-US">
                <a:ea typeface="+mn-lt"/>
                <a:cs typeface="+mn-lt"/>
              </a:rPr>
              <a:t> All papers employ CNNs for accurate eye state and yawning detection due to their effectiveness in image classification. Some use transfer learning to enhance performance.</a:t>
            </a:r>
            <a:endParaRPr lang="en-US">
              <a:cs typeface="Arial"/>
            </a:endParaRPr>
          </a:p>
          <a:p>
            <a:r>
              <a:rPr lang="en-US" b="1">
                <a:ea typeface="+mn-lt"/>
                <a:cs typeface="+mn-lt"/>
              </a:rPr>
              <a:t>Real-Time Eye &amp; Facial Monitoring</a:t>
            </a:r>
            <a:br>
              <a:rPr lang="en-US" dirty="0">
                <a:ea typeface="+mn-lt"/>
                <a:cs typeface="+mn-lt"/>
              </a:rPr>
            </a:br>
            <a:r>
              <a:rPr lang="en-US">
                <a:ea typeface="+mn-lt"/>
                <a:cs typeface="+mn-lt"/>
              </a:rPr>
              <a:t> Drowsiness detection relies on prolonged eye closure (typically &gt;300ms), blinking patterns, and yawning to trigger alerts—enabling timely microsleep prevention.</a:t>
            </a:r>
            <a:endParaRPr lang="en-US"/>
          </a:p>
          <a:p>
            <a:r>
              <a:rPr lang="en-US" b="1">
                <a:ea typeface="+mn-lt"/>
                <a:cs typeface="+mn-lt"/>
              </a:rPr>
              <a:t>Diverse &amp; Realistic Datasets</a:t>
            </a:r>
            <a:br>
              <a:rPr lang="en-US" dirty="0">
                <a:ea typeface="+mn-lt"/>
                <a:cs typeface="+mn-lt"/>
              </a:rPr>
            </a:br>
            <a:r>
              <a:rPr lang="en-US">
                <a:ea typeface="+mn-lt"/>
                <a:cs typeface="+mn-lt"/>
              </a:rPr>
              <a:t> Datasets like NTHU-DDD, YAWDD, CEW, and MRL Eye ensure robustness in real-world conditions (e.g., low light, head tilts), improving generalization.</a:t>
            </a:r>
            <a:endParaRPr lang="en-US"/>
          </a:p>
          <a:p>
            <a:r>
              <a:rPr lang="en-US" b="1" dirty="0">
                <a:ea typeface="+mn-lt"/>
                <a:cs typeface="+mn-lt"/>
              </a:rPr>
              <a:t>Lightweight &amp; Mobile-Friendly Models</a:t>
            </a:r>
            <a:br>
              <a:rPr lang="en-US" dirty="0">
                <a:ea typeface="+mn-lt"/>
                <a:cs typeface="+mn-lt"/>
              </a:rPr>
            </a:br>
            <a:r>
              <a:rPr lang="en-US" dirty="0">
                <a:ea typeface="+mn-lt"/>
                <a:cs typeface="+mn-lt"/>
              </a:rPr>
              <a:t> Several models are optimized for Android and embedded systems, promoting accessibility beyond luxury vehicles to fleets and public transport.</a:t>
            </a:r>
            <a:endParaRPr lang="en-US" dirty="0"/>
          </a:p>
          <a:p>
            <a:r>
              <a:rPr lang="en-US" b="1">
                <a:ea typeface="+mn-lt"/>
                <a:cs typeface="+mn-lt"/>
              </a:rPr>
              <a:t>High Accuracy &amp; Deployment Success</a:t>
            </a:r>
            <a:br>
              <a:rPr lang="en-US" dirty="0">
                <a:ea typeface="+mn-lt"/>
                <a:cs typeface="+mn-lt"/>
              </a:rPr>
            </a:br>
            <a:r>
              <a:rPr lang="en-US">
                <a:ea typeface="+mn-lt"/>
                <a:cs typeface="+mn-lt"/>
              </a:rPr>
              <a:t> Models report accuracies from 83% to 99%, with many implemented as real-time apps, bridging research with practical road safety applications.</a:t>
            </a:r>
            <a:endParaRPr lang="en-US"/>
          </a:p>
          <a:p>
            <a:endParaRPr lang="en-US" dirty="0">
              <a:cs typeface="Arial"/>
            </a:endParaRPr>
          </a:p>
        </p:txBody>
      </p:sp>
    </p:spTree>
    <p:extLst>
      <p:ext uri="{BB962C8B-B14F-4D97-AF65-F5344CB8AC3E}">
        <p14:creationId xmlns:p14="http://schemas.microsoft.com/office/powerpoint/2010/main" val="2128755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BCE1F-34D2-8606-391F-8116AFB160F6}"/>
              </a:ext>
            </a:extLst>
          </p:cNvPr>
          <p:cNvSpPr>
            <a:spLocks noGrp="1"/>
          </p:cNvSpPr>
          <p:nvPr>
            <p:ph type="title"/>
          </p:nvPr>
        </p:nvSpPr>
        <p:spPr>
          <a:xfrm>
            <a:off x="838200" y="365125"/>
            <a:ext cx="10515600" cy="707337"/>
          </a:xfrm>
        </p:spPr>
        <p:txBody>
          <a:bodyPr>
            <a:normAutofit fontScale="90000"/>
          </a:bodyPr>
          <a:lstStyle/>
          <a:p>
            <a:r>
              <a:rPr lang="en-US" dirty="0"/>
              <a:t>Objectives</a:t>
            </a:r>
          </a:p>
        </p:txBody>
      </p:sp>
      <p:sp>
        <p:nvSpPr>
          <p:cNvPr id="3" name="Content Placeholder 2">
            <a:extLst>
              <a:ext uri="{FF2B5EF4-FFF2-40B4-BE49-F238E27FC236}">
                <a16:creationId xmlns:a16="http://schemas.microsoft.com/office/drawing/2014/main" id="{7A184EB0-7542-2994-59F6-1B607076FAA5}"/>
              </a:ext>
            </a:extLst>
          </p:cNvPr>
          <p:cNvSpPr>
            <a:spLocks noGrp="1"/>
          </p:cNvSpPr>
          <p:nvPr>
            <p:ph idx="1"/>
          </p:nvPr>
        </p:nvSpPr>
        <p:spPr>
          <a:xfrm>
            <a:off x="838200" y="1221776"/>
            <a:ext cx="10515600" cy="4955187"/>
          </a:xfrm>
        </p:spPr>
        <p:txBody>
          <a:bodyPr vert="horz" lIns="91440" tIns="45720" rIns="91440" bIns="45720" rtlCol="0" anchor="t">
            <a:normAutofit fontScale="85000" lnSpcReduction="10000"/>
          </a:bodyPr>
          <a:lstStyle/>
          <a:p>
            <a:r>
              <a:rPr lang="en-US" b="1" dirty="0">
                <a:ea typeface="+mn-lt"/>
                <a:cs typeface="+mn-lt"/>
              </a:rPr>
              <a:t>Develop a Real-Time Drowsiness Detection System</a:t>
            </a:r>
            <a:br>
              <a:rPr lang="en-US" b="1" dirty="0">
                <a:ea typeface="+mn-lt"/>
                <a:cs typeface="+mn-lt"/>
              </a:rPr>
            </a:br>
            <a:r>
              <a:rPr lang="en-US" b="1" dirty="0">
                <a:ea typeface="+mn-lt"/>
                <a:cs typeface="+mn-lt"/>
              </a:rPr>
              <a:t> </a:t>
            </a:r>
            <a:r>
              <a:rPr lang="en-US" dirty="0">
                <a:ea typeface="+mn-lt"/>
                <a:cs typeface="+mn-lt"/>
              </a:rPr>
              <a:t>Design and implement a computer vision-based system that continuously monitors a driver’s facial features to identify signs of fatigue or sleep.</a:t>
            </a:r>
            <a:endParaRPr lang="en-US" dirty="0">
              <a:cs typeface="Arial"/>
            </a:endParaRPr>
          </a:p>
          <a:p>
            <a:r>
              <a:rPr lang="en-US" b="1" dirty="0">
                <a:ea typeface="+mn-lt"/>
                <a:cs typeface="+mn-lt"/>
              </a:rPr>
              <a:t>Utilize Convolutional Neural Networks (CNNs) for Accurate Classification</a:t>
            </a:r>
            <a:br>
              <a:rPr lang="en-US" b="1" dirty="0">
                <a:ea typeface="+mn-lt"/>
                <a:cs typeface="+mn-lt"/>
              </a:rPr>
            </a:br>
            <a:r>
              <a:rPr lang="en-US" dirty="0">
                <a:ea typeface="+mn-lt"/>
                <a:cs typeface="+mn-lt"/>
              </a:rPr>
              <a:t> Leverage the power of CNNs to classify eye states (open/closed) and yawning with high precision using training data and live webcam input.</a:t>
            </a:r>
            <a:endParaRPr lang="en-US" dirty="0"/>
          </a:p>
          <a:p>
            <a:r>
              <a:rPr lang="en-US" b="1" dirty="0">
                <a:ea typeface="+mn-lt"/>
                <a:cs typeface="+mn-lt"/>
              </a:rPr>
              <a:t>Enhance Road Safety by Early Detection</a:t>
            </a:r>
            <a:br>
              <a:rPr lang="en-US" b="1" dirty="0">
                <a:ea typeface="+mn-lt"/>
                <a:cs typeface="+mn-lt"/>
              </a:rPr>
            </a:br>
            <a:r>
              <a:rPr lang="en-US" b="1" dirty="0">
                <a:ea typeface="+mn-lt"/>
                <a:cs typeface="+mn-lt"/>
              </a:rPr>
              <a:t> </a:t>
            </a:r>
            <a:r>
              <a:rPr lang="en-US" dirty="0">
                <a:ea typeface="+mn-lt"/>
                <a:cs typeface="+mn-lt"/>
              </a:rPr>
              <a:t>Trigger alerts when signs of drowsiness are detected for a certain period ( eyes closed for 10+ frames), preventing accidents due to microsleeps</a:t>
            </a:r>
            <a:endParaRPr lang="en-US" dirty="0"/>
          </a:p>
          <a:p>
            <a:endParaRPr lang="en-US" dirty="0">
              <a:cs typeface="Arial"/>
            </a:endParaRPr>
          </a:p>
        </p:txBody>
      </p:sp>
    </p:spTree>
    <p:extLst>
      <p:ext uri="{BB962C8B-B14F-4D97-AF65-F5344CB8AC3E}">
        <p14:creationId xmlns:p14="http://schemas.microsoft.com/office/powerpoint/2010/main" val="3320372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 name="Rectangle 8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9" name="Rectangle 8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91" name="Top left">
            <a:extLst>
              <a:ext uri="{FF2B5EF4-FFF2-40B4-BE49-F238E27FC236}">
                <a16:creationId xmlns:a16="http://schemas.microsoft.com/office/drawing/2014/main" id="{34B438D8-EF7C-445C-8B7F-953BEB1BC1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92" name="Freeform: Shape 91">
              <a:extLst>
                <a:ext uri="{FF2B5EF4-FFF2-40B4-BE49-F238E27FC236}">
                  <a16:creationId xmlns:a16="http://schemas.microsoft.com/office/drawing/2014/main" id="{9FE087E2-E4B7-42FA-A441-7EDEE41B0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93" name="Freeform: Shape 92">
              <a:extLst>
                <a:ext uri="{FF2B5EF4-FFF2-40B4-BE49-F238E27FC236}">
                  <a16:creationId xmlns:a16="http://schemas.microsoft.com/office/drawing/2014/main" id="{A61B2EF2-665F-429A-9CFB-08C14FAC9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94" name="Freeform: Shape 93">
              <a:extLst>
                <a:ext uri="{FF2B5EF4-FFF2-40B4-BE49-F238E27FC236}">
                  <a16:creationId xmlns:a16="http://schemas.microsoft.com/office/drawing/2014/main" id="{0B0B1C71-6C49-4F64-8859-9CC59D7D9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95" name="Freeform: Shape 94">
              <a:extLst>
                <a:ext uri="{FF2B5EF4-FFF2-40B4-BE49-F238E27FC236}">
                  <a16:creationId xmlns:a16="http://schemas.microsoft.com/office/drawing/2014/main" id="{66BBF9FA-27D4-45DF-8D9C-623EA4106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96" name="Freeform: Shape 95">
              <a:extLst>
                <a:ext uri="{FF2B5EF4-FFF2-40B4-BE49-F238E27FC236}">
                  <a16:creationId xmlns:a16="http://schemas.microsoft.com/office/drawing/2014/main" id="{0F2F0D01-71CB-4693-A192-5BA045A5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97" name="Freeform: Shape 96">
              <a:extLst>
                <a:ext uri="{FF2B5EF4-FFF2-40B4-BE49-F238E27FC236}">
                  <a16:creationId xmlns:a16="http://schemas.microsoft.com/office/drawing/2014/main" id="{E740E1FB-ACD1-41FC-9828-9B5D2CAA7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98" name="Freeform: Shape 97">
              <a:extLst>
                <a:ext uri="{FF2B5EF4-FFF2-40B4-BE49-F238E27FC236}">
                  <a16:creationId xmlns:a16="http://schemas.microsoft.com/office/drawing/2014/main" id="{12BABC85-DC43-42B8-8AAA-9198D7A62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99" name="Freeform: Shape 98">
              <a:extLst>
                <a:ext uri="{FF2B5EF4-FFF2-40B4-BE49-F238E27FC236}">
                  <a16:creationId xmlns:a16="http://schemas.microsoft.com/office/drawing/2014/main" id="{F48F9955-240E-4180-81B8-5909B1A9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CE76E6BF-8208-893B-9DC7-13D1DAB9DF10}"/>
              </a:ext>
            </a:extLst>
          </p:cNvPr>
          <p:cNvSpPr>
            <a:spLocks noGrp="1"/>
          </p:cNvSpPr>
          <p:nvPr>
            <p:ph type="title"/>
          </p:nvPr>
        </p:nvSpPr>
        <p:spPr>
          <a:xfrm>
            <a:off x="407429" y="559813"/>
            <a:ext cx="4779122" cy="2452525"/>
          </a:xfrm>
        </p:spPr>
        <p:txBody>
          <a:bodyPr>
            <a:normAutofit/>
          </a:bodyPr>
          <a:lstStyle/>
          <a:p>
            <a:r>
              <a:rPr lang="en-US" dirty="0"/>
              <a:t>Architecture of System</a:t>
            </a:r>
          </a:p>
        </p:txBody>
      </p:sp>
      <p:pic>
        <p:nvPicPr>
          <p:cNvPr id="5" name="Content Placeholder 4" descr="A diagram of a program&#10;&#10;AI-generated content may be incorrect.">
            <a:extLst>
              <a:ext uri="{FF2B5EF4-FFF2-40B4-BE49-F238E27FC236}">
                <a16:creationId xmlns:a16="http://schemas.microsoft.com/office/drawing/2014/main" id="{C40E1804-601B-A4AB-361E-E89B1585CF8E}"/>
              </a:ext>
            </a:extLst>
          </p:cNvPr>
          <p:cNvPicPr>
            <a:picLocks noChangeAspect="1"/>
          </p:cNvPicPr>
          <p:nvPr/>
        </p:nvPicPr>
        <p:blipFill>
          <a:blip r:embed="rId2"/>
          <a:stretch>
            <a:fillRect/>
          </a:stretch>
        </p:blipFill>
        <p:spPr>
          <a:xfrm>
            <a:off x="5062572" y="-7152"/>
            <a:ext cx="6260154" cy="6867050"/>
          </a:xfrm>
          <a:prstGeom prst="rect">
            <a:avLst/>
          </a:prstGeom>
        </p:spPr>
      </p:pic>
      <p:grpSp>
        <p:nvGrpSpPr>
          <p:cNvPr id="101" name="Bottom Right">
            <a:extLst>
              <a:ext uri="{FF2B5EF4-FFF2-40B4-BE49-F238E27FC236}">
                <a16:creationId xmlns:a16="http://schemas.microsoft.com/office/drawing/2014/main" id="{284021E3-6F46-410C-BF43-B2DED73655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102" name="Freeform: Shape 101">
              <a:extLst>
                <a:ext uri="{FF2B5EF4-FFF2-40B4-BE49-F238E27FC236}">
                  <a16:creationId xmlns:a16="http://schemas.microsoft.com/office/drawing/2014/main" id="{A48AF179-3265-4A10-A62C-92B7E186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03" name="Graphic 157">
              <a:extLst>
                <a:ext uri="{FF2B5EF4-FFF2-40B4-BE49-F238E27FC236}">
                  <a16:creationId xmlns:a16="http://schemas.microsoft.com/office/drawing/2014/main" id="{30DF5C12-B34D-4E70-8FD0-D98069994E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105" name="Freeform: Shape 104">
                <a:extLst>
                  <a:ext uri="{FF2B5EF4-FFF2-40B4-BE49-F238E27FC236}">
                    <a16:creationId xmlns:a16="http://schemas.microsoft.com/office/drawing/2014/main" id="{9589785B-0300-4D1C-BEFB-DCA5AA045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106" name="Freeform: Shape 105">
                <a:extLst>
                  <a:ext uri="{FF2B5EF4-FFF2-40B4-BE49-F238E27FC236}">
                    <a16:creationId xmlns:a16="http://schemas.microsoft.com/office/drawing/2014/main" id="{7F41DF3E-3189-428F-B4FE-AACA35130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07" name="Freeform: Shape 106">
                <a:extLst>
                  <a:ext uri="{FF2B5EF4-FFF2-40B4-BE49-F238E27FC236}">
                    <a16:creationId xmlns:a16="http://schemas.microsoft.com/office/drawing/2014/main" id="{7C51D846-61EF-4EB5-BE03-65A572A2E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08" name="Freeform: Shape 107">
                <a:extLst>
                  <a:ext uri="{FF2B5EF4-FFF2-40B4-BE49-F238E27FC236}">
                    <a16:creationId xmlns:a16="http://schemas.microsoft.com/office/drawing/2014/main" id="{C5417C86-AA6B-4AD4-BD75-694E8E073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09" name="Freeform: Shape 108">
                <a:extLst>
                  <a:ext uri="{FF2B5EF4-FFF2-40B4-BE49-F238E27FC236}">
                    <a16:creationId xmlns:a16="http://schemas.microsoft.com/office/drawing/2014/main" id="{51D5067E-85F6-4202-AFB5-41F9C9EA7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0" name="Freeform: Shape 109">
                <a:extLst>
                  <a:ext uri="{FF2B5EF4-FFF2-40B4-BE49-F238E27FC236}">
                    <a16:creationId xmlns:a16="http://schemas.microsoft.com/office/drawing/2014/main" id="{A9598395-257E-4B18-949B-50F109866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1" name="Freeform: Shape 110">
                <a:extLst>
                  <a:ext uri="{FF2B5EF4-FFF2-40B4-BE49-F238E27FC236}">
                    <a16:creationId xmlns:a16="http://schemas.microsoft.com/office/drawing/2014/main" id="{39DDA522-37EB-48B3-9B62-748F75D36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04" name="Freeform: Shape 103">
              <a:extLst>
                <a:ext uri="{FF2B5EF4-FFF2-40B4-BE49-F238E27FC236}">
                  <a16:creationId xmlns:a16="http://schemas.microsoft.com/office/drawing/2014/main" id="{B9D8F012-98AD-4320-BA44-DE1CE4E4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401258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41A788-EB5B-A063-DB64-156A34D964D6}"/>
              </a:ext>
            </a:extLst>
          </p:cNvPr>
          <p:cNvSpPr>
            <a:spLocks noGrp="1"/>
          </p:cNvSpPr>
          <p:nvPr>
            <p:ph idx="1"/>
          </p:nvPr>
        </p:nvSpPr>
        <p:spPr>
          <a:xfrm>
            <a:off x="838200" y="200984"/>
            <a:ext cx="10515600" cy="5975979"/>
          </a:xfrm>
        </p:spPr>
        <p:txBody>
          <a:bodyPr vert="horz" lIns="91440" tIns="45720" rIns="91440" bIns="45720" rtlCol="0" anchor="t">
            <a:normAutofit lnSpcReduction="10000"/>
          </a:bodyPr>
          <a:lstStyle/>
          <a:p>
            <a:pPr algn="just"/>
            <a:r>
              <a:rPr lang="en-US" b="1"/>
              <a:t>Image Processing Phase</a:t>
            </a:r>
            <a:endParaRPr lang="en-US">
              <a:latin typeface="Arial"/>
              <a:cs typeface="Arial"/>
            </a:endParaRPr>
          </a:p>
          <a:p>
            <a:pPr algn="just"/>
            <a:r>
              <a:rPr lang="en-US" sz="1400" b="1">
                <a:ea typeface="+mn-lt"/>
                <a:cs typeface="+mn-lt"/>
              </a:rPr>
              <a:t>Start Image Processing</a:t>
            </a:r>
            <a:r>
              <a:rPr lang="en-US" sz="1400">
                <a:ea typeface="+mn-lt"/>
                <a:cs typeface="+mn-lt"/>
              </a:rPr>
              <a:t>: The system begins by capturing video frames (typically through a webcam).</a:t>
            </a:r>
            <a:endParaRPr lang="en-US" sz="1400">
              <a:cs typeface="Arial"/>
            </a:endParaRPr>
          </a:p>
          <a:p>
            <a:pPr algn="just"/>
            <a:r>
              <a:rPr lang="en-US" sz="1400" b="1">
                <a:ea typeface="+mn-lt"/>
                <a:cs typeface="+mn-lt"/>
              </a:rPr>
              <a:t>Image Normalization</a:t>
            </a:r>
            <a:r>
              <a:rPr lang="en-US" sz="1400">
                <a:ea typeface="+mn-lt"/>
                <a:cs typeface="+mn-lt"/>
              </a:rPr>
              <a:t>: Captured frames are preprocessed—resized (e.g., 145x145), converted to grayscale, and pixel values are normalized to improve CNN performance.</a:t>
            </a:r>
            <a:endParaRPr lang="en-US" sz="1400" dirty="0">
              <a:ea typeface="+mn-lt"/>
              <a:cs typeface="+mn-lt"/>
            </a:endParaRPr>
          </a:p>
          <a:p>
            <a:pPr algn="just"/>
            <a:r>
              <a:rPr lang="en-US" sz="1400" b="1">
                <a:ea typeface="+mn-lt"/>
                <a:cs typeface="+mn-lt"/>
              </a:rPr>
              <a:t>Convolutional Layers</a:t>
            </a:r>
            <a:r>
              <a:rPr lang="en-US" sz="1400">
                <a:ea typeface="+mn-lt"/>
                <a:cs typeface="+mn-lt"/>
              </a:rPr>
              <a:t>: These layers extract local patterns such as edges, eye contours, and facial landmarks from the input image.</a:t>
            </a:r>
            <a:endParaRPr lang="en-US" sz="1400" dirty="0">
              <a:ea typeface="+mn-lt"/>
              <a:cs typeface="+mn-lt"/>
            </a:endParaRPr>
          </a:p>
          <a:p>
            <a:pPr algn="just"/>
            <a:r>
              <a:rPr lang="en-US" sz="1400" b="1">
                <a:ea typeface="+mn-lt"/>
                <a:cs typeface="+mn-lt"/>
              </a:rPr>
              <a:t>ReLU Activation</a:t>
            </a:r>
            <a:r>
              <a:rPr lang="en-US" sz="1400">
                <a:ea typeface="+mn-lt"/>
                <a:cs typeface="+mn-lt"/>
              </a:rPr>
              <a:t>: A nonlinear activation function that introduces non-linearity into the model, helping to learn complex patterns.</a:t>
            </a:r>
            <a:endParaRPr lang="en-US" sz="1400" dirty="0">
              <a:ea typeface="+mn-lt"/>
              <a:cs typeface="+mn-lt"/>
            </a:endParaRPr>
          </a:p>
          <a:p>
            <a:pPr algn="just"/>
            <a:r>
              <a:rPr lang="en-US" sz="1400" b="1">
                <a:ea typeface="+mn-lt"/>
                <a:cs typeface="+mn-lt"/>
              </a:rPr>
              <a:t>Pooling Layers</a:t>
            </a:r>
            <a:r>
              <a:rPr lang="en-US" sz="1400">
                <a:ea typeface="+mn-lt"/>
                <a:cs typeface="+mn-lt"/>
              </a:rPr>
              <a:t>: Used for spatial reduction of feature maps (e.g., max pooling), reducing computation while retaining important features.</a:t>
            </a:r>
            <a:endParaRPr lang="en-US" sz="1400" dirty="0">
              <a:ea typeface="+mn-lt"/>
              <a:cs typeface="+mn-lt"/>
            </a:endParaRPr>
          </a:p>
          <a:p>
            <a:pPr algn="just"/>
            <a:r>
              <a:rPr lang="en-US" sz="1400" b="1">
                <a:ea typeface="+mn-lt"/>
                <a:cs typeface="+mn-lt"/>
              </a:rPr>
              <a:t>Flatten Feature Maps</a:t>
            </a:r>
            <a:r>
              <a:rPr lang="en-US" sz="1400">
                <a:ea typeface="+mn-lt"/>
                <a:cs typeface="+mn-lt"/>
              </a:rPr>
              <a:t>: Converts the pooled features into a 1D vector to feed into dense layers.</a:t>
            </a:r>
            <a:endParaRPr lang="en-US" sz="1400" dirty="0">
              <a:ea typeface="+mn-lt"/>
              <a:cs typeface="+mn-lt"/>
            </a:endParaRPr>
          </a:p>
          <a:p>
            <a:pPr algn="just"/>
            <a:r>
              <a:rPr lang="en-US" sz="1400" b="1" err="1">
                <a:ea typeface="+mn-lt"/>
                <a:cs typeface="+mn-lt"/>
              </a:rPr>
              <a:t>Softmax</a:t>
            </a:r>
            <a:r>
              <a:rPr lang="en-US" sz="1400" b="1">
                <a:ea typeface="+mn-lt"/>
                <a:cs typeface="+mn-lt"/>
              </a:rPr>
              <a:t> Classification</a:t>
            </a:r>
            <a:r>
              <a:rPr lang="en-US" sz="1400">
                <a:ea typeface="+mn-lt"/>
                <a:cs typeface="+mn-lt"/>
              </a:rPr>
              <a:t>: Final output layer gives probabilities of each class (e.g., eyes open, eyes closed, yawning).</a:t>
            </a:r>
            <a:endParaRPr lang="en-US" sz="1400"/>
          </a:p>
          <a:p>
            <a:pPr algn="just"/>
            <a:endParaRPr lang="en-US" sz="1200" dirty="0">
              <a:latin typeface="Times New Roman"/>
              <a:cs typeface="Times New Roman"/>
            </a:endParaRPr>
          </a:p>
          <a:p>
            <a:pPr algn="just"/>
            <a:r>
              <a:rPr lang="en-US" b="1" dirty="0"/>
              <a:t>Model Training Block</a:t>
            </a:r>
            <a:endParaRPr lang="en-US" sz="1200" dirty="0">
              <a:latin typeface="Times New Roman"/>
              <a:cs typeface="Times New Roman"/>
            </a:endParaRPr>
          </a:p>
          <a:p>
            <a:pPr algn="just"/>
            <a:r>
              <a:rPr lang="en-US" sz="1400" b="1">
                <a:ea typeface="+mn-lt"/>
                <a:cs typeface="+mn-lt"/>
              </a:rPr>
              <a:t>Start Model Training</a:t>
            </a:r>
            <a:r>
              <a:rPr lang="en-US" sz="1400">
                <a:ea typeface="+mn-lt"/>
                <a:cs typeface="+mn-lt"/>
              </a:rPr>
              <a:t>: Initiates the CNN training phase using labeled datasets.</a:t>
            </a:r>
            <a:endParaRPr lang="en-US" sz="1400">
              <a:cs typeface="Arial"/>
            </a:endParaRPr>
          </a:p>
          <a:p>
            <a:pPr algn="just"/>
            <a:r>
              <a:rPr lang="en-US" sz="1400" b="1">
                <a:ea typeface="+mn-lt"/>
                <a:cs typeface="+mn-lt"/>
              </a:rPr>
              <a:t>Labeled Training Data</a:t>
            </a:r>
            <a:r>
              <a:rPr lang="en-US" sz="1400">
                <a:ea typeface="+mn-lt"/>
                <a:cs typeface="+mn-lt"/>
              </a:rPr>
              <a:t>: Images with annotated eye states (open/closed) are used for supervised training.</a:t>
            </a:r>
            <a:endParaRPr lang="en-US" sz="1400">
              <a:cs typeface="Arial"/>
            </a:endParaRPr>
          </a:p>
          <a:p>
            <a:pPr algn="just"/>
            <a:r>
              <a:rPr lang="en-US" sz="1400" b="1" dirty="0">
                <a:ea typeface="+mn-lt"/>
                <a:cs typeface="+mn-lt"/>
              </a:rPr>
              <a:t>Forward Pass</a:t>
            </a:r>
            <a:r>
              <a:rPr lang="en-US" sz="1400" dirty="0">
                <a:ea typeface="+mn-lt"/>
                <a:cs typeface="+mn-lt"/>
              </a:rPr>
              <a:t>: Input data passes through the CNN model and outputs predictions.</a:t>
            </a:r>
            <a:endParaRPr lang="en-US" sz="1400">
              <a:cs typeface="Arial"/>
            </a:endParaRPr>
          </a:p>
          <a:p>
            <a:pPr algn="just"/>
            <a:r>
              <a:rPr lang="en-US" sz="1400" b="1" dirty="0">
                <a:ea typeface="+mn-lt"/>
                <a:cs typeface="+mn-lt"/>
              </a:rPr>
              <a:t>Compute Loss</a:t>
            </a:r>
            <a:r>
              <a:rPr lang="en-US" sz="1400" dirty="0">
                <a:ea typeface="+mn-lt"/>
                <a:cs typeface="+mn-lt"/>
              </a:rPr>
              <a:t>: The difference between the predicted and actual values is calculated using a loss function (e.g., cross-entropy).</a:t>
            </a:r>
            <a:endParaRPr lang="en-US" sz="1400" dirty="0"/>
          </a:p>
          <a:p>
            <a:pPr algn="just"/>
            <a:endParaRPr lang="en-US" sz="1200" dirty="0">
              <a:cs typeface="Arial"/>
            </a:endParaRPr>
          </a:p>
          <a:p>
            <a:pPr algn="just"/>
            <a:endParaRPr lang="en-US" sz="1200" dirty="0">
              <a:latin typeface="Times New Roman"/>
              <a:cs typeface="Times New Roman"/>
            </a:endParaRPr>
          </a:p>
        </p:txBody>
      </p:sp>
    </p:spTree>
    <p:extLst>
      <p:ext uri="{BB962C8B-B14F-4D97-AF65-F5344CB8AC3E}">
        <p14:creationId xmlns:p14="http://schemas.microsoft.com/office/powerpoint/2010/main" val="159367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6A9746-D603-B9D6-32C7-C907E22819EC}"/>
              </a:ext>
            </a:extLst>
          </p:cNvPr>
          <p:cNvSpPr>
            <a:spLocks noGrp="1"/>
          </p:cNvSpPr>
          <p:nvPr>
            <p:ph idx="1"/>
          </p:nvPr>
        </p:nvSpPr>
        <p:spPr>
          <a:xfrm>
            <a:off x="838200" y="287248"/>
            <a:ext cx="10515600" cy="5889715"/>
          </a:xfrm>
        </p:spPr>
        <p:txBody>
          <a:bodyPr vert="horz" lIns="91440" tIns="45720" rIns="91440" bIns="45720" rtlCol="0" anchor="t">
            <a:normAutofit/>
          </a:bodyPr>
          <a:lstStyle/>
          <a:p>
            <a:pPr algn="just"/>
            <a:r>
              <a:rPr lang="en-US" sz="1400" b="1">
                <a:cs typeface="Arial"/>
              </a:rPr>
              <a:t>Backpropagation</a:t>
            </a:r>
            <a:r>
              <a:rPr lang="en-US" sz="1400">
                <a:cs typeface="Arial"/>
              </a:rPr>
              <a:t>: Gradients are computed and passed backward to update the weights.</a:t>
            </a:r>
            <a:endParaRPr lang="en-US" sz="1400">
              <a:solidFill>
                <a:srgbClr val="000000"/>
              </a:solidFill>
              <a:cs typeface="Arial"/>
            </a:endParaRPr>
          </a:p>
          <a:p>
            <a:pPr algn="just"/>
            <a:r>
              <a:rPr lang="en-US" sz="1400" b="1" dirty="0">
                <a:cs typeface="Arial"/>
              </a:rPr>
              <a:t>Update Weights</a:t>
            </a:r>
            <a:r>
              <a:rPr lang="en-US" sz="1400" dirty="0">
                <a:cs typeface="Arial"/>
              </a:rPr>
              <a:t>: CNN parameters are adjusted to minimize the loss.</a:t>
            </a:r>
            <a:endParaRPr lang="en-US" sz="1400" dirty="0">
              <a:solidFill>
                <a:srgbClr val="000000"/>
              </a:solidFill>
              <a:cs typeface="Arial"/>
            </a:endParaRPr>
          </a:p>
          <a:p>
            <a:pPr algn="just"/>
            <a:r>
              <a:rPr lang="en-US" sz="1400" b="1" dirty="0">
                <a:cs typeface="Arial"/>
              </a:rPr>
              <a:t>Trained Model</a:t>
            </a:r>
            <a:r>
              <a:rPr lang="en-US" sz="1400" dirty="0">
                <a:cs typeface="Arial"/>
              </a:rPr>
              <a:t>: After multiple epochs, a trained model is produced.</a:t>
            </a:r>
            <a:endParaRPr lang="en-US" sz="1400" dirty="0">
              <a:solidFill>
                <a:srgbClr val="000000"/>
              </a:solidFill>
              <a:cs typeface="Arial"/>
            </a:endParaRPr>
          </a:p>
          <a:p>
            <a:pPr algn="just"/>
            <a:r>
              <a:rPr lang="en-US" sz="1400" b="1" dirty="0">
                <a:cs typeface="Arial"/>
              </a:rPr>
              <a:t>End Training</a:t>
            </a:r>
            <a:r>
              <a:rPr lang="en-US" sz="1400" dirty="0">
                <a:cs typeface="Arial"/>
              </a:rPr>
              <a:t>: Marks the completion of model training, ready for real-time deployment.</a:t>
            </a:r>
          </a:p>
          <a:p>
            <a:pPr algn="just"/>
            <a:endParaRPr lang="en-US" sz="1100" dirty="0">
              <a:cs typeface="Arial"/>
            </a:endParaRPr>
          </a:p>
          <a:p>
            <a:pPr algn="just"/>
            <a:r>
              <a:rPr lang="en-US" b="1" dirty="0"/>
              <a:t>3. Real-Time Monitoring Phase</a:t>
            </a:r>
            <a:endParaRPr lang="en-US" sz="1100" dirty="0">
              <a:cs typeface="Arial"/>
            </a:endParaRPr>
          </a:p>
          <a:p>
            <a:pPr algn="just"/>
            <a:r>
              <a:rPr lang="en-US" sz="1400" b="1">
                <a:ea typeface="+mn-lt"/>
                <a:cs typeface="+mn-lt"/>
              </a:rPr>
              <a:t>Prediction Output</a:t>
            </a:r>
            <a:r>
              <a:rPr lang="en-US" sz="1400">
                <a:ea typeface="+mn-lt"/>
                <a:cs typeface="+mn-lt"/>
              </a:rPr>
              <a:t>: New frames are classified using the trained CNN.</a:t>
            </a:r>
            <a:endParaRPr lang="en-US" sz="1400">
              <a:cs typeface="Arial"/>
            </a:endParaRPr>
          </a:p>
          <a:p>
            <a:pPr algn="just"/>
            <a:r>
              <a:rPr lang="en-US" sz="1400" b="1">
                <a:ea typeface="+mn-lt"/>
                <a:cs typeface="+mn-lt"/>
              </a:rPr>
              <a:t>Detect Eyes Closed</a:t>
            </a:r>
            <a:r>
              <a:rPr lang="en-US" sz="1400">
                <a:ea typeface="+mn-lt"/>
                <a:cs typeface="+mn-lt"/>
              </a:rPr>
              <a:t>: Logic checks if eyes are classified as "closed."</a:t>
            </a:r>
            <a:endParaRPr lang="en-US" sz="1400">
              <a:cs typeface="Arial"/>
            </a:endParaRPr>
          </a:p>
          <a:p>
            <a:pPr algn="just"/>
            <a:r>
              <a:rPr lang="en-US" sz="1400" b="1" dirty="0">
                <a:ea typeface="+mn-lt"/>
                <a:cs typeface="+mn-lt"/>
              </a:rPr>
              <a:t>Count Consecutive Frames</a:t>
            </a:r>
            <a:r>
              <a:rPr lang="en-US" sz="1400" dirty="0">
                <a:ea typeface="+mn-lt"/>
                <a:cs typeface="+mn-lt"/>
              </a:rPr>
              <a:t>: If eyes remain closed for &gt;10 frames, the system assumes drowsiness.</a:t>
            </a:r>
            <a:endParaRPr lang="en-US" sz="1400" dirty="0">
              <a:cs typeface="Arial"/>
            </a:endParaRPr>
          </a:p>
          <a:p>
            <a:pPr algn="just"/>
            <a:r>
              <a:rPr lang="en-US" sz="1400" b="1" dirty="0">
                <a:ea typeface="+mn-lt"/>
                <a:cs typeface="+mn-lt"/>
              </a:rPr>
              <a:t>Trigger Alert</a:t>
            </a:r>
            <a:r>
              <a:rPr lang="en-US" sz="1400" dirty="0">
                <a:ea typeface="+mn-lt"/>
                <a:cs typeface="+mn-lt"/>
              </a:rPr>
              <a:t>: A visual/auditory alert is activated to wake the driver.</a:t>
            </a:r>
            <a:endParaRPr lang="en-US" sz="1400" dirty="0">
              <a:cs typeface="Arial"/>
            </a:endParaRPr>
          </a:p>
          <a:p>
            <a:pPr algn="just"/>
            <a:r>
              <a:rPr lang="en-US" sz="1400" b="1" dirty="0">
                <a:ea typeface="+mn-lt"/>
                <a:cs typeface="+mn-lt"/>
              </a:rPr>
              <a:t>Eyes Open Path</a:t>
            </a:r>
            <a:r>
              <a:rPr lang="en-US" sz="1400" dirty="0">
                <a:ea typeface="+mn-lt"/>
                <a:cs typeface="+mn-lt"/>
              </a:rPr>
              <a:t>: If eyes open before the threshold, monitoring continues.</a:t>
            </a:r>
            <a:endParaRPr lang="en-US" sz="1400" dirty="0">
              <a:cs typeface="Arial"/>
            </a:endParaRPr>
          </a:p>
          <a:p>
            <a:pPr algn="just"/>
            <a:r>
              <a:rPr lang="en-US" sz="1400" b="1" dirty="0">
                <a:ea typeface="+mn-lt"/>
                <a:cs typeface="+mn-lt"/>
              </a:rPr>
              <a:t>End Real-Time Monitoring</a:t>
            </a:r>
            <a:r>
              <a:rPr lang="en-US" sz="1400" dirty="0">
                <a:ea typeface="+mn-lt"/>
                <a:cs typeface="+mn-lt"/>
              </a:rPr>
              <a:t>: System ends session or continues based on user or external input.</a:t>
            </a:r>
            <a:endParaRPr lang="en-US" sz="1400" dirty="0"/>
          </a:p>
          <a:p>
            <a:pPr algn="just"/>
            <a:endParaRPr lang="en-US" sz="1100" dirty="0">
              <a:cs typeface="Arial"/>
            </a:endParaRPr>
          </a:p>
        </p:txBody>
      </p:sp>
    </p:spTree>
    <p:extLst>
      <p:ext uri="{BB962C8B-B14F-4D97-AF65-F5344CB8AC3E}">
        <p14:creationId xmlns:p14="http://schemas.microsoft.com/office/powerpoint/2010/main" val="347820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Freeform: Shape 10">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3" name="Freeform: Shape 12">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5" name="Freeform: Shape 14">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8" name="Freeform: Shape 17">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6"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7" name="Freeform: Shape 26">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5" name="Rectangle 34">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7" name="Rectangle 36">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39" name="Top left">
            <a:extLst>
              <a:ext uri="{FF2B5EF4-FFF2-40B4-BE49-F238E27FC236}">
                <a16:creationId xmlns:a16="http://schemas.microsoft.com/office/drawing/2014/main" id="{E4A71F22-0E43-4930-8185-0D8C173634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0" name="Freeform: Shape 39">
              <a:extLst>
                <a:ext uri="{FF2B5EF4-FFF2-40B4-BE49-F238E27FC236}">
                  <a16:creationId xmlns:a16="http://schemas.microsoft.com/office/drawing/2014/main" id="{E337B2BE-9368-41E7-B9D3-4F1F971F94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Freeform: Shape 40">
              <a:extLst>
                <a:ext uri="{FF2B5EF4-FFF2-40B4-BE49-F238E27FC236}">
                  <a16:creationId xmlns:a16="http://schemas.microsoft.com/office/drawing/2014/main" id="{C7EDF3EA-3138-4266-8511-D57CECF0A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EA12DCF8-5403-4AA2-818F-2DF853DC1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AD89B414-72F6-4409-A12B-4F23F1CE0F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214BA161-43C1-4B9D-A341-694B88127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B211E8CC-9B3E-4E58-821A-069B7C109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B29FA542-0294-4239-B976-E5D20656C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EA9045A3-208C-4023-9F44-D62234135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023B886E-E57E-A73F-E8CB-31336ACE4BA7}"/>
              </a:ext>
            </a:extLst>
          </p:cNvPr>
          <p:cNvSpPr>
            <a:spLocks noGrp="1"/>
          </p:cNvSpPr>
          <p:nvPr>
            <p:ph type="title"/>
          </p:nvPr>
        </p:nvSpPr>
        <p:spPr>
          <a:xfrm>
            <a:off x="996275" y="163350"/>
            <a:ext cx="5996619" cy="2065889"/>
          </a:xfrm>
        </p:spPr>
        <p:txBody>
          <a:bodyPr vert="horz" lIns="91440" tIns="45720" rIns="91440" bIns="45720" rtlCol="0" anchor="ctr">
            <a:normAutofit/>
          </a:bodyPr>
          <a:lstStyle/>
          <a:p>
            <a:r>
              <a:rPr lang="en-US" sz="5400" kern="1200">
                <a:solidFill>
                  <a:schemeClr val="tx2"/>
                </a:solidFill>
                <a:latin typeface="+mj-lt"/>
                <a:ea typeface="+mj-ea"/>
                <a:cs typeface="+mj-cs"/>
              </a:rPr>
              <a:t>Real time Monitoring </a:t>
            </a:r>
          </a:p>
        </p:txBody>
      </p:sp>
      <p:grpSp>
        <p:nvGrpSpPr>
          <p:cNvPr id="49" name="Cross">
            <a:extLst>
              <a:ext uri="{FF2B5EF4-FFF2-40B4-BE49-F238E27FC236}">
                <a16:creationId xmlns:a16="http://schemas.microsoft.com/office/drawing/2014/main" id="{1EDF0462-C0C2-4E84-A7EA-8EE60CEFF6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50" name="Straight Connector 49">
              <a:extLst>
                <a:ext uri="{FF2B5EF4-FFF2-40B4-BE49-F238E27FC236}">
                  <a16:creationId xmlns:a16="http://schemas.microsoft.com/office/drawing/2014/main" id="{DD5894EA-1641-49CE-AE6E-B9522736A0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1" name="Straight Connector 50">
              <a:extLst>
                <a:ext uri="{FF2B5EF4-FFF2-40B4-BE49-F238E27FC236}">
                  <a16:creationId xmlns:a16="http://schemas.microsoft.com/office/drawing/2014/main" id="{8C6415EB-8C9A-4F1B-A459-64B94A8651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4" name="Content Placeholder 3" descr="A flowchart of a computer&#10;&#10;AI-generated content may be incorrect.">
            <a:extLst>
              <a:ext uri="{FF2B5EF4-FFF2-40B4-BE49-F238E27FC236}">
                <a16:creationId xmlns:a16="http://schemas.microsoft.com/office/drawing/2014/main" id="{63B10243-B4A9-4C6B-CCD8-1F98C716A370}"/>
              </a:ext>
            </a:extLst>
          </p:cNvPr>
          <p:cNvPicPr>
            <a:picLocks noGrp="1" noChangeAspect="1"/>
          </p:cNvPicPr>
          <p:nvPr>
            <p:ph idx="1"/>
          </p:nvPr>
        </p:nvPicPr>
        <p:blipFill>
          <a:blip r:embed="rId2"/>
          <a:stretch>
            <a:fillRect/>
          </a:stretch>
        </p:blipFill>
        <p:spPr>
          <a:xfrm>
            <a:off x="2290472" y="2385716"/>
            <a:ext cx="7611056" cy="3919694"/>
          </a:xfrm>
          <a:prstGeom prst="rect">
            <a:avLst/>
          </a:prstGeom>
        </p:spPr>
      </p:pic>
      <p:grpSp>
        <p:nvGrpSpPr>
          <p:cNvPr id="53" name="Bottom Right">
            <a:extLst>
              <a:ext uri="{FF2B5EF4-FFF2-40B4-BE49-F238E27FC236}">
                <a16:creationId xmlns:a16="http://schemas.microsoft.com/office/drawing/2014/main" id="{B798A610-8506-4BC1-8108-8E1A31CAB8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4" name="Freeform: Shape 53">
              <a:extLst>
                <a:ext uri="{FF2B5EF4-FFF2-40B4-BE49-F238E27FC236}">
                  <a16:creationId xmlns:a16="http://schemas.microsoft.com/office/drawing/2014/main" id="{5C72D714-A610-482A-B26E-C679E9535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5" name="Graphic 157">
              <a:extLst>
                <a:ext uri="{FF2B5EF4-FFF2-40B4-BE49-F238E27FC236}">
                  <a16:creationId xmlns:a16="http://schemas.microsoft.com/office/drawing/2014/main" id="{D7EF30A6-8E6C-417A-B645-4EC7F0B3824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7" name="Freeform: Shape 56">
                <a:extLst>
                  <a:ext uri="{FF2B5EF4-FFF2-40B4-BE49-F238E27FC236}">
                    <a16:creationId xmlns:a16="http://schemas.microsoft.com/office/drawing/2014/main" id="{17D377E0-C3CC-48DC-B73B-09CEEDE39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80E2DF20-A9FD-4B82-8673-1091B4C00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2425BAEB-7B00-4394-8302-CF2DEA744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4917EE8E-E8BC-42F3-BEE3-2F84E8F64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B8647303-59FF-4A2B-8D6D-FB229E659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7BD597AB-C6D9-437D-BBFE-8007D4ED0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4FA09AC9-DA2A-4216-BBFD-96E701FB8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6" name="Freeform: Shape 55">
              <a:extLst>
                <a:ext uri="{FF2B5EF4-FFF2-40B4-BE49-F238E27FC236}">
                  <a16:creationId xmlns:a16="http://schemas.microsoft.com/office/drawing/2014/main" id="{A8AD4A98-C6D7-49C8-A31E-29C6DB7C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327552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CB63BD-6595-2DC3-EB53-567C4B9CBC50}"/>
              </a:ext>
            </a:extLst>
          </p:cNvPr>
          <p:cNvSpPr>
            <a:spLocks noGrp="1"/>
          </p:cNvSpPr>
          <p:nvPr>
            <p:ph idx="1"/>
          </p:nvPr>
        </p:nvSpPr>
        <p:spPr>
          <a:xfrm>
            <a:off x="838200" y="402267"/>
            <a:ext cx="10515600" cy="5774696"/>
          </a:xfrm>
        </p:spPr>
        <p:txBody>
          <a:bodyPr vert="horz" lIns="91440" tIns="45720" rIns="91440" bIns="45720" rtlCol="0" anchor="t">
            <a:normAutofit/>
          </a:bodyPr>
          <a:lstStyle/>
          <a:p>
            <a:pPr algn="just"/>
            <a:r>
              <a:rPr lang="en-US" sz="1600" b="1">
                <a:latin typeface="Times New Roman"/>
                <a:cs typeface="Times New Roman"/>
              </a:rPr>
              <a:t>Technical Workflow:</a:t>
            </a:r>
            <a:endParaRPr lang="en-US" sz="1600" dirty="0">
              <a:latin typeface="Times New Roman"/>
              <a:cs typeface="Times New Roman"/>
            </a:endParaRPr>
          </a:p>
          <a:p>
            <a:pPr algn="just"/>
            <a:r>
              <a:rPr lang="en-US" sz="1600">
                <a:latin typeface="Times New Roman"/>
                <a:cs typeface="Times New Roman"/>
              </a:rPr>
              <a:t>Captures live video using OpenCV.</a:t>
            </a:r>
            <a:endParaRPr lang="en-US" sz="1600">
              <a:cs typeface="Arial"/>
            </a:endParaRPr>
          </a:p>
          <a:p>
            <a:pPr algn="just"/>
            <a:r>
              <a:rPr lang="en-US" sz="1600" dirty="0">
                <a:latin typeface="Times New Roman"/>
                <a:cs typeface="Times New Roman"/>
              </a:rPr>
              <a:t>Applies Haar cascade detection for face and eye tracking in every frame.</a:t>
            </a:r>
            <a:endParaRPr lang="en-US" sz="1600" dirty="0">
              <a:cs typeface="Arial"/>
            </a:endParaRPr>
          </a:p>
          <a:p>
            <a:pPr algn="just"/>
            <a:r>
              <a:rPr lang="en-US" sz="1600" dirty="0">
                <a:latin typeface="Times New Roman"/>
                <a:cs typeface="Times New Roman"/>
              </a:rPr>
              <a:t>Crops eye regions and resizes them.</a:t>
            </a:r>
            <a:endParaRPr lang="en-US" sz="1600" dirty="0">
              <a:cs typeface="Arial"/>
            </a:endParaRPr>
          </a:p>
          <a:p>
            <a:pPr algn="just"/>
            <a:r>
              <a:rPr lang="en-US" sz="1600" dirty="0">
                <a:latin typeface="Times New Roman"/>
                <a:cs typeface="Times New Roman"/>
              </a:rPr>
              <a:t>Feeds frames into the trained CNN model.</a:t>
            </a:r>
            <a:endParaRPr lang="en-US" sz="1600" dirty="0">
              <a:cs typeface="Arial"/>
            </a:endParaRPr>
          </a:p>
          <a:p>
            <a:pPr algn="just"/>
            <a:r>
              <a:rPr lang="en-US" sz="1600" dirty="0">
                <a:latin typeface="Times New Roman"/>
                <a:cs typeface="Times New Roman"/>
              </a:rPr>
              <a:t>Based on model output, triggers alerts after:</a:t>
            </a:r>
            <a:endParaRPr lang="en-US" sz="1600" dirty="0">
              <a:cs typeface="Arial"/>
            </a:endParaRPr>
          </a:p>
          <a:p>
            <a:pPr lvl="1" algn="just"/>
            <a:r>
              <a:rPr lang="en-US" sz="1600" dirty="0">
                <a:latin typeface="Times New Roman"/>
                <a:cs typeface="Times New Roman"/>
              </a:rPr>
              <a:t>10+ frames of eyes closed.</a:t>
            </a:r>
            <a:endParaRPr lang="en-US" sz="1600" dirty="0">
              <a:cs typeface="Arial"/>
            </a:endParaRPr>
          </a:p>
          <a:p>
            <a:pPr lvl="1" algn="just"/>
            <a:r>
              <a:rPr lang="en-US" sz="1600" dirty="0">
                <a:latin typeface="Times New Roman"/>
                <a:cs typeface="Times New Roman"/>
              </a:rPr>
              <a:t>Yawning detected multiple times in short intervals.</a:t>
            </a:r>
            <a:endParaRPr lang="en-US" sz="1600" dirty="0">
              <a:latin typeface="Arial"/>
              <a:cs typeface="Arial"/>
            </a:endParaRPr>
          </a:p>
          <a:p>
            <a:pPr algn="just"/>
            <a:r>
              <a:rPr lang="en-US" sz="1600" b="1" dirty="0">
                <a:latin typeface="Times New Roman"/>
                <a:cs typeface="Times New Roman"/>
              </a:rPr>
              <a:t>Output Mechanism</a:t>
            </a:r>
          </a:p>
          <a:p>
            <a:pPr algn="just"/>
            <a:r>
              <a:rPr lang="en-US" sz="1600" dirty="0">
                <a:latin typeface="Times New Roman"/>
                <a:cs typeface="Times New Roman"/>
              </a:rPr>
              <a:t>Visual Alert: “Drowsiness Detected!” text on screen.</a:t>
            </a:r>
            <a:endParaRPr lang="en-US" sz="1600" dirty="0">
              <a:cs typeface="Arial"/>
            </a:endParaRPr>
          </a:p>
          <a:p>
            <a:pPr algn="just"/>
            <a:r>
              <a:rPr lang="en-US" sz="1600" dirty="0">
                <a:latin typeface="Times New Roman"/>
                <a:cs typeface="Times New Roman"/>
              </a:rPr>
              <a:t>Auditory Alert: Buzzer or alert sound using </a:t>
            </a:r>
            <a:r>
              <a:rPr lang="en-US" sz="1600" err="1">
                <a:latin typeface="Times New Roman"/>
                <a:cs typeface="Times New Roman"/>
              </a:rPr>
              <a:t>playsound</a:t>
            </a:r>
            <a:r>
              <a:rPr lang="en-US" sz="1600" dirty="0">
                <a:latin typeface="Times New Roman"/>
                <a:cs typeface="Times New Roman"/>
              </a:rPr>
              <a:t>() or </a:t>
            </a:r>
            <a:r>
              <a:rPr lang="en-US" sz="1600" err="1">
                <a:latin typeface="Times New Roman"/>
                <a:cs typeface="Times New Roman"/>
              </a:rPr>
              <a:t>pygame</a:t>
            </a:r>
            <a:r>
              <a:rPr lang="en-US" sz="1600" dirty="0">
                <a:latin typeface="Times New Roman"/>
                <a:cs typeface="Times New Roman"/>
              </a:rPr>
              <a:t>.</a:t>
            </a:r>
            <a:endParaRPr lang="en-US" sz="1600" dirty="0">
              <a:cs typeface="Arial"/>
            </a:endParaRPr>
          </a:p>
          <a:p>
            <a:pPr algn="just"/>
            <a:r>
              <a:rPr lang="en-US" sz="1600" b="1" dirty="0">
                <a:latin typeface="Times New Roman"/>
                <a:cs typeface="Times New Roman"/>
              </a:rPr>
              <a:t>Advantages:</a:t>
            </a:r>
            <a:endParaRPr lang="en-US" sz="1600" dirty="0">
              <a:cs typeface="Arial"/>
            </a:endParaRPr>
          </a:p>
          <a:p>
            <a:pPr algn="just"/>
            <a:r>
              <a:rPr lang="en-US" sz="1600" dirty="0">
                <a:latin typeface="Times New Roman"/>
                <a:cs typeface="Times New Roman"/>
              </a:rPr>
              <a:t>Lightweight for edge devices.</a:t>
            </a:r>
            <a:endParaRPr lang="en-US" sz="1600" dirty="0">
              <a:cs typeface="Arial"/>
            </a:endParaRPr>
          </a:p>
          <a:p>
            <a:pPr algn="just"/>
            <a:r>
              <a:rPr lang="en-US" sz="1600" dirty="0">
                <a:latin typeface="Times New Roman"/>
                <a:cs typeface="Times New Roman"/>
              </a:rPr>
              <a:t>Works in varying lighting conditions due to augmented training.</a:t>
            </a:r>
            <a:endParaRPr lang="en-US" sz="1600" dirty="0">
              <a:cs typeface="Arial"/>
            </a:endParaRPr>
          </a:p>
          <a:p>
            <a:pPr algn="just"/>
            <a:r>
              <a:rPr lang="en-US" sz="1600" dirty="0">
                <a:latin typeface="Times New Roman"/>
                <a:cs typeface="Times New Roman"/>
              </a:rPr>
              <a:t>Scalable for commercial vehicle fleets, public transport, and personal cars.</a:t>
            </a:r>
            <a:endParaRPr lang="en-US" sz="1600" dirty="0"/>
          </a:p>
          <a:p>
            <a:pPr algn="just"/>
            <a:endParaRPr lang="en-US" sz="1400" b="1" dirty="0">
              <a:latin typeface="Times New Roman"/>
              <a:cs typeface="Times New Roman"/>
            </a:endParaRPr>
          </a:p>
        </p:txBody>
      </p:sp>
    </p:spTree>
    <p:extLst>
      <p:ext uri="{BB962C8B-B14F-4D97-AF65-F5344CB8AC3E}">
        <p14:creationId xmlns:p14="http://schemas.microsoft.com/office/powerpoint/2010/main" val="2398756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8" name="Freeform: Shape 37">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48" name="Freeform: Shape 47">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52" name="Freeform: Shape 51">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8" name="Freeform: Shape 17">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6"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7" name="Freeform: Shape 26">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5" name="Rectangle 34">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7" name="Rectangle 36">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39" name="Top left">
            <a:extLst>
              <a:ext uri="{FF2B5EF4-FFF2-40B4-BE49-F238E27FC236}">
                <a16:creationId xmlns:a16="http://schemas.microsoft.com/office/drawing/2014/main" id="{4210BA9D-B4AC-4A1D-B63B-44F10A9A7D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0" name="Freeform: Shape 39">
              <a:extLst>
                <a:ext uri="{FF2B5EF4-FFF2-40B4-BE49-F238E27FC236}">
                  <a16:creationId xmlns:a16="http://schemas.microsoft.com/office/drawing/2014/main" id="{2AB57F67-BA3E-4168-B776-298ABEE40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Freeform: Shape 40">
              <a:extLst>
                <a:ext uri="{FF2B5EF4-FFF2-40B4-BE49-F238E27FC236}">
                  <a16:creationId xmlns:a16="http://schemas.microsoft.com/office/drawing/2014/main" id="{1A37E474-2AB5-44C2-89C5-00B18BBF0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3C7682BD-43A7-412C-9D1C-C253EDF7F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CE322CA5-5700-49C5-B2F4-5451AEC68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7FF4B5E5-C2CB-47A0-BDC9-D9560C77B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DC206FD4-2993-45C6-A6D2-945277425E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0AC4F993-F14F-4F25-A6AB-1AD9E2A820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1CD13FF4-3251-4983-B074-BD35A9902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E10F5936-8297-FD47-5077-C893A9E68785}"/>
              </a:ext>
            </a:extLst>
          </p:cNvPr>
          <p:cNvSpPr>
            <a:spLocks noGrp="1"/>
          </p:cNvSpPr>
          <p:nvPr>
            <p:ph type="title"/>
          </p:nvPr>
        </p:nvSpPr>
        <p:spPr>
          <a:xfrm>
            <a:off x="1106295" y="284834"/>
            <a:ext cx="10461887" cy="768779"/>
          </a:xfrm>
        </p:spPr>
        <p:txBody>
          <a:bodyPr vert="horz" lIns="91440" tIns="45720" rIns="91440" bIns="45720" rtlCol="0" anchor="b">
            <a:normAutofit/>
          </a:bodyPr>
          <a:lstStyle/>
          <a:p>
            <a:pPr>
              <a:lnSpc>
                <a:spcPct val="90000"/>
              </a:lnSpc>
            </a:pPr>
            <a:r>
              <a:rPr lang="en-US" sz="3400" kern="1200">
                <a:solidFill>
                  <a:schemeClr val="tx2"/>
                </a:solidFill>
                <a:latin typeface="+mj-lt"/>
                <a:ea typeface="+mj-ea"/>
                <a:cs typeface="+mj-cs"/>
              </a:rPr>
              <a:t>Implementation : CNN model</a:t>
            </a:r>
          </a:p>
        </p:txBody>
      </p:sp>
      <p:grpSp>
        <p:nvGrpSpPr>
          <p:cNvPr id="49" name="Cross">
            <a:extLst>
              <a:ext uri="{FF2B5EF4-FFF2-40B4-BE49-F238E27FC236}">
                <a16:creationId xmlns:a16="http://schemas.microsoft.com/office/drawing/2014/main" id="{80F56037-8334-4400-9C7A-A3BEFA96A8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50" name="Straight Connector 49">
              <a:extLst>
                <a:ext uri="{FF2B5EF4-FFF2-40B4-BE49-F238E27FC236}">
                  <a16:creationId xmlns:a16="http://schemas.microsoft.com/office/drawing/2014/main" id="{060AD0EB-D554-49C4-9728-C64D6D6867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1" name="Straight Connector 50">
              <a:extLst>
                <a:ext uri="{FF2B5EF4-FFF2-40B4-BE49-F238E27FC236}">
                  <a16:creationId xmlns:a16="http://schemas.microsoft.com/office/drawing/2014/main" id="{C9432895-644F-4E09-97C7-F8DB36AAE1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4" name="Content Placeholder 3" descr="A screenshot of a computer program&#10;&#10;AI-generated content may be incorrect.">
            <a:extLst>
              <a:ext uri="{FF2B5EF4-FFF2-40B4-BE49-F238E27FC236}">
                <a16:creationId xmlns:a16="http://schemas.microsoft.com/office/drawing/2014/main" id="{8FC3EA2D-EA50-2B81-7CCF-C1272C7123D4}"/>
              </a:ext>
            </a:extLst>
          </p:cNvPr>
          <p:cNvPicPr>
            <a:picLocks noGrp="1" noChangeAspect="1"/>
          </p:cNvPicPr>
          <p:nvPr>
            <p:ph idx="1"/>
          </p:nvPr>
        </p:nvPicPr>
        <p:blipFill>
          <a:blip r:embed="rId2"/>
          <a:stretch>
            <a:fillRect/>
          </a:stretch>
        </p:blipFill>
        <p:spPr>
          <a:xfrm>
            <a:off x="1103388" y="1284814"/>
            <a:ext cx="9881534" cy="5232023"/>
          </a:xfrm>
          <a:prstGeom prst="rect">
            <a:avLst/>
          </a:prstGeom>
        </p:spPr>
      </p:pic>
      <p:grpSp>
        <p:nvGrpSpPr>
          <p:cNvPr id="53" name="Bottom Right">
            <a:extLst>
              <a:ext uri="{FF2B5EF4-FFF2-40B4-BE49-F238E27FC236}">
                <a16:creationId xmlns:a16="http://schemas.microsoft.com/office/drawing/2014/main" id="{6B310A71-665E-47AB-9D80-2D90F7D921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4" name="Freeform: Shape 53">
              <a:extLst>
                <a:ext uri="{FF2B5EF4-FFF2-40B4-BE49-F238E27FC236}">
                  <a16:creationId xmlns:a16="http://schemas.microsoft.com/office/drawing/2014/main" id="{6AD1AF10-782F-4908-A718-EA87EC7170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5" name="Graphic 157">
              <a:extLst>
                <a:ext uri="{FF2B5EF4-FFF2-40B4-BE49-F238E27FC236}">
                  <a16:creationId xmlns:a16="http://schemas.microsoft.com/office/drawing/2014/main" id="{A935357A-B553-44CD-9376-FE1E6057500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7" name="Freeform: Shape 56">
                <a:extLst>
                  <a:ext uri="{FF2B5EF4-FFF2-40B4-BE49-F238E27FC236}">
                    <a16:creationId xmlns:a16="http://schemas.microsoft.com/office/drawing/2014/main" id="{71A180B9-74EE-45CB-8BC1-41E1C07585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D0ED6DBC-425A-4959-8ACF-4263EEF246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1B431B70-9FAD-408D-890D-646D48404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8E532E75-ACFE-4179-B41D-039B3B768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1C81F463-8260-4AAF-9233-3FE29293C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5D51C233-AAFA-43B0-85ED-E42E8DE5E5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0D7BBAB6-5F70-4658-9F1E-4F56C83F0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6" name="Freeform: Shape 55">
              <a:extLst>
                <a:ext uri="{FF2B5EF4-FFF2-40B4-BE49-F238E27FC236}">
                  <a16:creationId xmlns:a16="http://schemas.microsoft.com/office/drawing/2014/main" id="{2FADCFE9-3879-4BEB-8C66-8CDE96527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67159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5464A-A6C6-8F02-3126-733C62432F15}"/>
              </a:ext>
            </a:extLst>
          </p:cNvPr>
          <p:cNvSpPr>
            <a:spLocks noGrp="1"/>
          </p:cNvSpPr>
          <p:nvPr>
            <p:ph type="title"/>
          </p:nvPr>
        </p:nvSpPr>
        <p:spPr>
          <a:xfrm>
            <a:off x="838200" y="365125"/>
            <a:ext cx="10515600" cy="649828"/>
          </a:xfrm>
        </p:spPr>
        <p:txBody>
          <a:bodyPr>
            <a:normAutofit fontScale="90000"/>
          </a:bodyPr>
          <a:lstStyle/>
          <a:p>
            <a:r>
              <a:rPr lang="en-US" dirty="0"/>
              <a:t>Training</a:t>
            </a:r>
          </a:p>
        </p:txBody>
      </p:sp>
      <p:pic>
        <p:nvPicPr>
          <p:cNvPr id="4" name="Content Placeholder 3" descr="A screen shot of a computer&#10;&#10;AI-generated content may be incorrect.">
            <a:extLst>
              <a:ext uri="{FF2B5EF4-FFF2-40B4-BE49-F238E27FC236}">
                <a16:creationId xmlns:a16="http://schemas.microsoft.com/office/drawing/2014/main" id="{F1EA6AA4-B23D-6000-115D-EE00BCBA574A}"/>
              </a:ext>
            </a:extLst>
          </p:cNvPr>
          <p:cNvPicPr>
            <a:picLocks noGrp="1" noChangeAspect="1"/>
          </p:cNvPicPr>
          <p:nvPr>
            <p:ph idx="1"/>
          </p:nvPr>
        </p:nvPicPr>
        <p:blipFill>
          <a:blip r:embed="rId2"/>
          <a:stretch>
            <a:fillRect/>
          </a:stretch>
        </p:blipFill>
        <p:spPr>
          <a:xfrm>
            <a:off x="1078302" y="1392572"/>
            <a:ext cx="10294187" cy="3722198"/>
          </a:xfrm>
        </p:spPr>
      </p:pic>
      <p:pic>
        <p:nvPicPr>
          <p:cNvPr id="5" name="Picture 4" descr="A black background with white text&#10;&#10;AI-generated content may be incorrect.">
            <a:extLst>
              <a:ext uri="{FF2B5EF4-FFF2-40B4-BE49-F238E27FC236}">
                <a16:creationId xmlns:a16="http://schemas.microsoft.com/office/drawing/2014/main" id="{9D054B43-4422-C3CC-2B73-7130620665D5}"/>
              </a:ext>
            </a:extLst>
          </p:cNvPr>
          <p:cNvPicPr>
            <a:picLocks noChangeAspect="1"/>
          </p:cNvPicPr>
          <p:nvPr/>
        </p:nvPicPr>
        <p:blipFill>
          <a:blip r:embed="rId3"/>
          <a:stretch>
            <a:fillRect/>
          </a:stretch>
        </p:blipFill>
        <p:spPr>
          <a:xfrm>
            <a:off x="1074798" y="5252589"/>
            <a:ext cx="10301197" cy="1054219"/>
          </a:xfrm>
          <a:prstGeom prst="rect">
            <a:avLst/>
          </a:prstGeom>
        </p:spPr>
      </p:pic>
    </p:spTree>
    <p:extLst>
      <p:ext uri="{BB962C8B-B14F-4D97-AF65-F5344CB8AC3E}">
        <p14:creationId xmlns:p14="http://schemas.microsoft.com/office/powerpoint/2010/main" val="1032641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60EE5-BDB3-1FDB-013A-49DA6614A3D2}"/>
              </a:ext>
            </a:extLst>
          </p:cNvPr>
          <p:cNvSpPr>
            <a:spLocks noGrp="1"/>
          </p:cNvSpPr>
          <p:nvPr>
            <p:ph type="title"/>
          </p:nvPr>
        </p:nvSpPr>
        <p:spPr>
          <a:xfrm>
            <a:off x="838200" y="365125"/>
            <a:ext cx="10515600" cy="577941"/>
          </a:xfrm>
        </p:spPr>
        <p:txBody>
          <a:bodyPr>
            <a:normAutofit fontScale="90000"/>
          </a:bodyPr>
          <a:lstStyle/>
          <a:p>
            <a:r>
              <a:rPr lang="en-US" dirty="0"/>
              <a:t>Results</a:t>
            </a:r>
          </a:p>
        </p:txBody>
      </p:sp>
      <p:pic>
        <p:nvPicPr>
          <p:cNvPr id="4" name="Content Placeholder 3" descr="A screenshot of a computer screen&#10;&#10;AI-generated content may be incorrect.">
            <a:extLst>
              <a:ext uri="{FF2B5EF4-FFF2-40B4-BE49-F238E27FC236}">
                <a16:creationId xmlns:a16="http://schemas.microsoft.com/office/drawing/2014/main" id="{23AB6CB7-16E4-4DAE-2842-661CCF04AD7A}"/>
              </a:ext>
            </a:extLst>
          </p:cNvPr>
          <p:cNvPicPr>
            <a:picLocks noGrp="1" noChangeAspect="1"/>
          </p:cNvPicPr>
          <p:nvPr>
            <p:ph idx="1"/>
          </p:nvPr>
        </p:nvPicPr>
        <p:blipFill>
          <a:blip r:embed="rId2"/>
          <a:stretch>
            <a:fillRect/>
          </a:stretch>
        </p:blipFill>
        <p:spPr>
          <a:xfrm>
            <a:off x="3372479" y="950149"/>
            <a:ext cx="5461418" cy="2464818"/>
          </a:xfrm>
        </p:spPr>
      </p:pic>
      <p:pic>
        <p:nvPicPr>
          <p:cNvPr id="5" name="Picture 4" descr="A graph showing a line of blue and red&#10;&#10;AI-generated content may be incorrect.">
            <a:extLst>
              <a:ext uri="{FF2B5EF4-FFF2-40B4-BE49-F238E27FC236}">
                <a16:creationId xmlns:a16="http://schemas.microsoft.com/office/drawing/2014/main" id="{7B456C5D-E21B-3724-B083-09C467AC6D2A}"/>
              </a:ext>
            </a:extLst>
          </p:cNvPr>
          <p:cNvPicPr>
            <a:picLocks noChangeAspect="1"/>
          </p:cNvPicPr>
          <p:nvPr/>
        </p:nvPicPr>
        <p:blipFill>
          <a:blip r:embed="rId3"/>
          <a:stretch>
            <a:fillRect/>
          </a:stretch>
        </p:blipFill>
        <p:spPr>
          <a:xfrm>
            <a:off x="1017557" y="3714391"/>
            <a:ext cx="4060884" cy="2764766"/>
          </a:xfrm>
          <a:prstGeom prst="rect">
            <a:avLst/>
          </a:prstGeom>
        </p:spPr>
      </p:pic>
      <p:pic>
        <p:nvPicPr>
          <p:cNvPr id="6" name="Picture 5" descr="A graph showing a line of blue and red&#10;&#10;AI-generated content may be incorrect.">
            <a:extLst>
              <a:ext uri="{FF2B5EF4-FFF2-40B4-BE49-F238E27FC236}">
                <a16:creationId xmlns:a16="http://schemas.microsoft.com/office/drawing/2014/main" id="{A8B6370E-E085-9068-3940-7DC032D1F850}"/>
              </a:ext>
            </a:extLst>
          </p:cNvPr>
          <p:cNvPicPr>
            <a:picLocks noChangeAspect="1"/>
          </p:cNvPicPr>
          <p:nvPr/>
        </p:nvPicPr>
        <p:blipFill>
          <a:blip r:embed="rId4"/>
          <a:stretch>
            <a:fillRect/>
          </a:stretch>
        </p:blipFill>
        <p:spPr>
          <a:xfrm>
            <a:off x="7706624" y="3717985"/>
            <a:ext cx="4319677" cy="2779143"/>
          </a:xfrm>
          <a:prstGeom prst="rect">
            <a:avLst/>
          </a:prstGeom>
        </p:spPr>
      </p:pic>
    </p:spTree>
    <p:extLst>
      <p:ext uri="{BB962C8B-B14F-4D97-AF65-F5344CB8AC3E}">
        <p14:creationId xmlns:p14="http://schemas.microsoft.com/office/powerpoint/2010/main" val="589973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18678-98AA-F142-78EC-54C4038560E4}"/>
              </a:ext>
            </a:extLst>
          </p:cNvPr>
          <p:cNvSpPr>
            <a:spLocks noGrp="1"/>
          </p:cNvSpPr>
          <p:nvPr>
            <p:ph type="title"/>
          </p:nvPr>
        </p:nvSpPr>
        <p:spPr>
          <a:xfrm>
            <a:off x="838200" y="365125"/>
            <a:ext cx="10515600" cy="721714"/>
          </a:xfrm>
        </p:spPr>
        <p:txBody>
          <a:bodyPr>
            <a:normAutofit fontScale="90000"/>
          </a:bodyPr>
          <a:lstStyle/>
          <a:p>
            <a:r>
              <a:rPr lang="en-US" dirty="0"/>
              <a:t>Conclusion</a:t>
            </a:r>
          </a:p>
        </p:txBody>
      </p:sp>
      <p:sp>
        <p:nvSpPr>
          <p:cNvPr id="3" name="Content Placeholder 2">
            <a:extLst>
              <a:ext uri="{FF2B5EF4-FFF2-40B4-BE49-F238E27FC236}">
                <a16:creationId xmlns:a16="http://schemas.microsoft.com/office/drawing/2014/main" id="{13015442-673A-2BD5-F023-3A63E873BBA6}"/>
              </a:ext>
            </a:extLst>
          </p:cNvPr>
          <p:cNvSpPr>
            <a:spLocks noGrp="1"/>
          </p:cNvSpPr>
          <p:nvPr>
            <p:ph idx="1"/>
          </p:nvPr>
        </p:nvSpPr>
        <p:spPr>
          <a:xfrm>
            <a:off x="838200" y="1236154"/>
            <a:ext cx="10515600" cy="4940809"/>
          </a:xfrm>
        </p:spPr>
        <p:txBody>
          <a:bodyPr vert="horz" lIns="91440" tIns="45720" rIns="91440" bIns="45720" rtlCol="0" anchor="t">
            <a:noAutofit/>
          </a:bodyPr>
          <a:lstStyle/>
          <a:p>
            <a:r>
              <a:rPr lang="en-US" sz="1700" dirty="0">
                <a:latin typeface="Times New Roman"/>
                <a:cs typeface="Times New Roman"/>
              </a:rPr>
              <a:t>Driver drowsiness detection using computer vision and deep learning techniques is an essential contribution to intelligent transportation systems and road safety. The project developed a real-time detection system that leverages convolutional neural networks (CNNs) to classify four distinct states—open eyes, closed eyes, yawning, and no yawning—based on facial features, specifically eye and mouth movements. The system was trained on a carefully preprocessed dataset, and a model was built that integrates Haar cascade classifiers for face and eye detection with a custom CNN for classification.</a:t>
            </a:r>
            <a:endParaRPr lang="en-US" sz="1700">
              <a:cs typeface="Arial"/>
            </a:endParaRPr>
          </a:p>
          <a:p>
            <a:pPr algn="just"/>
            <a:r>
              <a:rPr lang="en-US" sz="1700" dirty="0">
                <a:latin typeface="Times New Roman"/>
                <a:cs typeface="Times New Roman"/>
              </a:rPr>
              <a:t>The achieved validation accuracy (~96%) highlights the model’s ability to generalize on unseen data, demonstrating its suitability for practical scenarios. The system also successfully integrates alarm-based feedback to alert drowsy drivers, combining both software intelligence and user safety response. This hybrid design, involving classical image processing (for face/eye localization) and deep learning (for behavior classification), proved to be effective and modular.</a:t>
            </a:r>
            <a:endParaRPr lang="en-US" sz="1700">
              <a:cs typeface="Arial"/>
            </a:endParaRPr>
          </a:p>
          <a:p>
            <a:pPr algn="just"/>
            <a:r>
              <a:rPr lang="en-US" sz="1700" dirty="0">
                <a:latin typeface="Times New Roman"/>
                <a:cs typeface="Times New Roman"/>
              </a:rPr>
              <a:t>However, despite its success, the model has certain limitations rooted in real-world unpredictability, including changes in lighting, facial occlusions, and subtle behavioral variations. The CNN, although effective, still relies on supervised training, which requires a robust and diverse dataset. Overall, the project not only showcases the technical feasibility of real-time drowsiness detection but also opens up opportunities for enhancement through multi-modal input and adaptive learning systems.</a:t>
            </a:r>
            <a:endParaRPr lang="en-US" sz="1700" dirty="0"/>
          </a:p>
          <a:p>
            <a:endParaRPr lang="en-US" dirty="0">
              <a:cs typeface="Arial"/>
            </a:endParaRPr>
          </a:p>
        </p:txBody>
      </p:sp>
    </p:spTree>
    <p:extLst>
      <p:ext uri="{BB962C8B-B14F-4D97-AF65-F5344CB8AC3E}">
        <p14:creationId xmlns:p14="http://schemas.microsoft.com/office/powerpoint/2010/main" val="2999711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3C5A0-97C9-3BAB-0E55-7031AB14BABD}"/>
              </a:ext>
            </a:extLst>
          </p:cNvPr>
          <p:cNvSpPr>
            <a:spLocks noGrp="1"/>
          </p:cNvSpPr>
          <p:nvPr>
            <p:ph type="title"/>
          </p:nvPr>
        </p:nvSpPr>
        <p:spPr>
          <a:xfrm>
            <a:off x="838200" y="365125"/>
            <a:ext cx="10515600" cy="577941"/>
          </a:xfrm>
        </p:spPr>
        <p:txBody>
          <a:bodyPr>
            <a:normAutofit fontScale="90000"/>
          </a:bodyPr>
          <a:lstStyle/>
          <a:p>
            <a:r>
              <a:rPr lang="en-US" dirty="0"/>
              <a:t>References</a:t>
            </a:r>
          </a:p>
        </p:txBody>
      </p:sp>
      <p:sp>
        <p:nvSpPr>
          <p:cNvPr id="3" name="Content Placeholder 2">
            <a:extLst>
              <a:ext uri="{FF2B5EF4-FFF2-40B4-BE49-F238E27FC236}">
                <a16:creationId xmlns:a16="http://schemas.microsoft.com/office/drawing/2014/main" id="{BC50EF78-4539-5DF3-1075-3B2097C113D6}"/>
              </a:ext>
            </a:extLst>
          </p:cNvPr>
          <p:cNvSpPr>
            <a:spLocks noGrp="1"/>
          </p:cNvSpPr>
          <p:nvPr>
            <p:ph idx="1"/>
          </p:nvPr>
        </p:nvSpPr>
        <p:spPr>
          <a:xfrm>
            <a:off x="838200" y="1279285"/>
            <a:ext cx="10515600" cy="4897678"/>
          </a:xfrm>
        </p:spPr>
        <p:txBody>
          <a:bodyPr vert="horz" lIns="91440" tIns="45720" rIns="91440" bIns="45720" rtlCol="0" anchor="t">
            <a:normAutofit fontScale="40000" lnSpcReduction="20000"/>
          </a:bodyPr>
          <a:lstStyle/>
          <a:p>
            <a:pPr marL="514350" indent="-514350">
              <a:buAutoNum type="arabicPeriod"/>
            </a:pPr>
            <a:r>
              <a:rPr lang="en-US" dirty="0">
                <a:ea typeface="+mn-lt"/>
                <a:cs typeface="+mn-lt"/>
              </a:rPr>
              <a:t>Rateb Jabbar et al., </a:t>
            </a:r>
            <a:r>
              <a:rPr lang="en-US" i="1" dirty="0">
                <a:ea typeface="+mn-lt"/>
                <a:cs typeface="+mn-lt"/>
              </a:rPr>
              <a:t>“Driver Drowsiness Detection Model Using CNN Techniques for Android Application”</a:t>
            </a:r>
            <a:r>
              <a:rPr lang="en-US" dirty="0">
                <a:ea typeface="+mn-lt"/>
                <a:cs typeface="+mn-lt"/>
              </a:rPr>
              <a:t> – 2021.</a:t>
            </a:r>
            <a:br>
              <a:rPr lang="en-US" dirty="0">
                <a:ea typeface="+mn-lt"/>
                <a:cs typeface="+mn-lt"/>
              </a:rPr>
            </a:br>
            <a:r>
              <a:rPr lang="en-US" dirty="0">
                <a:ea typeface="+mn-lt"/>
                <a:cs typeface="+mn-lt"/>
              </a:rPr>
              <a:t> Describes a lightweight CNN model implemented on Android to monitor driver fatigue through eye state detection.</a:t>
            </a:r>
            <a:endParaRPr lang="en-US" dirty="0">
              <a:cs typeface="Arial"/>
            </a:endParaRPr>
          </a:p>
          <a:p>
            <a:pPr marL="514350" indent="-514350">
              <a:buAutoNum type="arabicPeriod"/>
            </a:pPr>
            <a:r>
              <a:rPr lang="en-US">
                <a:ea typeface="+mn-lt"/>
                <a:cs typeface="+mn-lt"/>
              </a:rPr>
              <a:t>Soumya Agarwal, Dr. M.N. </a:t>
            </a:r>
            <a:r>
              <a:rPr lang="en-US" err="1">
                <a:ea typeface="+mn-lt"/>
                <a:cs typeface="+mn-lt"/>
              </a:rPr>
              <a:t>Nachappa</a:t>
            </a:r>
            <a:r>
              <a:rPr lang="en-US">
                <a:ea typeface="+mn-lt"/>
                <a:cs typeface="+mn-lt"/>
              </a:rPr>
              <a:t>, </a:t>
            </a:r>
            <a:r>
              <a:rPr lang="en-US" i="1">
                <a:ea typeface="+mn-lt"/>
                <a:cs typeface="+mn-lt"/>
              </a:rPr>
              <a:t>“Driver Drowsiness Detection System Using CNN”</a:t>
            </a:r>
            <a:r>
              <a:rPr lang="en-US">
                <a:ea typeface="+mn-lt"/>
                <a:cs typeface="+mn-lt"/>
              </a:rPr>
              <a:t> – IJSET, Vol. 10, Issue 2, 2022.</a:t>
            </a:r>
            <a:br>
              <a:rPr lang="en-US" dirty="0">
                <a:ea typeface="+mn-lt"/>
                <a:cs typeface="+mn-lt"/>
              </a:rPr>
            </a:br>
            <a:r>
              <a:rPr lang="en-US">
                <a:ea typeface="+mn-lt"/>
                <a:cs typeface="+mn-lt"/>
              </a:rPr>
              <a:t> Proposes a CNN-based system to classify driver alertness using image inputs with real-time application focus.</a:t>
            </a:r>
            <a:endParaRPr lang="en-US">
              <a:cs typeface="Arial"/>
            </a:endParaRPr>
          </a:p>
          <a:p>
            <a:pPr marL="514350" indent="-514350">
              <a:buAutoNum type="arabicPeriod"/>
            </a:pPr>
            <a:r>
              <a:rPr lang="en-US">
                <a:ea typeface="+mn-lt"/>
                <a:cs typeface="+mn-lt"/>
              </a:rPr>
              <a:t>Wilson Florez et al., </a:t>
            </a:r>
            <a:r>
              <a:rPr lang="en-US" i="1">
                <a:ea typeface="+mn-lt"/>
                <a:cs typeface="+mn-lt"/>
              </a:rPr>
              <a:t>“Facial Region of Interest Based Driver Drowsiness Detection Using CNN Models”</a:t>
            </a:r>
            <a:r>
              <a:rPr lang="en-US">
                <a:ea typeface="+mn-lt"/>
                <a:cs typeface="+mn-lt"/>
              </a:rPr>
              <a:t> – Applied Sciences (MDPI), 2023.</a:t>
            </a:r>
            <a:br>
              <a:rPr lang="en-US" dirty="0">
                <a:ea typeface="+mn-lt"/>
                <a:cs typeface="+mn-lt"/>
              </a:rPr>
            </a:br>
            <a:r>
              <a:rPr lang="en-US">
                <a:ea typeface="+mn-lt"/>
                <a:cs typeface="+mn-lt"/>
              </a:rPr>
              <a:t> Utilizes a region-of-interest approach with CNNs to isolate facial features critical for fatigue detection.</a:t>
            </a:r>
            <a:endParaRPr lang="en-US">
              <a:cs typeface="Arial"/>
            </a:endParaRPr>
          </a:p>
          <a:p>
            <a:pPr marL="514350" indent="-514350">
              <a:buAutoNum type="arabicPeriod"/>
            </a:pPr>
            <a:r>
              <a:rPr lang="en-US">
                <a:ea typeface="+mn-lt"/>
                <a:cs typeface="+mn-lt"/>
              </a:rPr>
              <a:t>Md. Iqbal Hasan et al., </a:t>
            </a:r>
            <a:r>
              <a:rPr lang="en-US" i="1">
                <a:ea typeface="+mn-lt"/>
                <a:cs typeface="+mn-lt"/>
              </a:rPr>
              <a:t>“Real-Time Driver Drowsiness Detection Using Facial Features and Deep Learning”</a:t>
            </a:r>
            <a:r>
              <a:rPr lang="en-US">
                <a:ea typeface="+mn-lt"/>
                <a:cs typeface="+mn-lt"/>
              </a:rPr>
              <a:t> – IEEE Access, Vol. 9, 2021.</a:t>
            </a:r>
            <a:br>
              <a:rPr lang="en-US" dirty="0">
                <a:ea typeface="+mn-lt"/>
                <a:cs typeface="+mn-lt"/>
              </a:rPr>
            </a:br>
            <a:r>
              <a:rPr lang="en-US">
                <a:ea typeface="+mn-lt"/>
                <a:cs typeface="+mn-lt"/>
              </a:rPr>
              <a:t> Combines Haar cascades for detection and deep CNN for classification, tested in real-world driving environments.</a:t>
            </a:r>
            <a:endParaRPr lang="en-US">
              <a:cs typeface="Arial"/>
            </a:endParaRPr>
          </a:p>
          <a:p>
            <a:pPr marL="514350" indent="-514350">
              <a:buAutoNum type="arabicPeriod"/>
            </a:pPr>
            <a:r>
              <a:rPr lang="en-US" dirty="0">
                <a:ea typeface="+mn-lt"/>
                <a:cs typeface="+mn-lt"/>
              </a:rPr>
              <a:t>Abdul Wahid et al., </a:t>
            </a:r>
            <a:r>
              <a:rPr lang="en-US" i="1" dirty="0">
                <a:ea typeface="+mn-lt"/>
                <a:cs typeface="+mn-lt"/>
              </a:rPr>
              <a:t>“Deep Learning-Based Drowsiness Detection Using Eye Aspect Ratio and CNN”</a:t>
            </a:r>
            <a:r>
              <a:rPr lang="en-US" dirty="0">
                <a:ea typeface="+mn-lt"/>
                <a:cs typeface="+mn-lt"/>
              </a:rPr>
              <a:t> – Procedia Computer Science, Vol. 189, 2021.</a:t>
            </a:r>
            <a:br>
              <a:rPr lang="en-US" dirty="0">
                <a:ea typeface="+mn-lt"/>
                <a:cs typeface="+mn-lt"/>
              </a:rPr>
            </a:br>
            <a:r>
              <a:rPr lang="en-US" dirty="0">
                <a:ea typeface="+mn-lt"/>
                <a:cs typeface="+mn-lt"/>
              </a:rPr>
              <a:t> Integrates classical eye aspect ratio (EAR) techniques with CNN classification for better performance.</a:t>
            </a:r>
            <a:endParaRPr lang="en-US" dirty="0">
              <a:cs typeface="Arial"/>
            </a:endParaRPr>
          </a:p>
          <a:p>
            <a:pPr marL="514350" indent="-514350">
              <a:buAutoNum type="arabicPeriod"/>
            </a:pPr>
            <a:r>
              <a:rPr lang="en-US">
                <a:ea typeface="+mn-lt"/>
                <a:cs typeface="+mn-lt"/>
              </a:rPr>
              <a:t>M. Pourya </a:t>
            </a:r>
            <a:r>
              <a:rPr lang="en-US" err="1">
                <a:ea typeface="+mn-lt"/>
                <a:cs typeface="+mn-lt"/>
              </a:rPr>
              <a:t>Rikhtegar</a:t>
            </a:r>
            <a:r>
              <a:rPr lang="en-US">
                <a:ea typeface="+mn-lt"/>
                <a:cs typeface="+mn-lt"/>
              </a:rPr>
              <a:t> et al., </a:t>
            </a:r>
            <a:r>
              <a:rPr lang="en-US" i="1">
                <a:ea typeface="+mn-lt"/>
                <a:cs typeface="+mn-lt"/>
              </a:rPr>
              <a:t>“Drowsy Driver Detection Based on Yawning Analysis Using CNN”</a:t>
            </a:r>
            <a:r>
              <a:rPr lang="en-US">
                <a:ea typeface="+mn-lt"/>
                <a:cs typeface="+mn-lt"/>
              </a:rPr>
              <a:t> – 2020, IEEE International Conference on Image Processing.</a:t>
            </a:r>
            <a:br>
              <a:rPr lang="en-US" dirty="0">
                <a:ea typeface="+mn-lt"/>
                <a:cs typeface="+mn-lt"/>
              </a:rPr>
            </a:br>
            <a:r>
              <a:rPr lang="en-US">
                <a:ea typeface="+mn-lt"/>
                <a:cs typeface="+mn-lt"/>
              </a:rPr>
              <a:t> Focuses on yawning behavior using facial landmarks and CNN-based classification models.</a:t>
            </a:r>
            <a:endParaRPr lang="en-US">
              <a:cs typeface="Arial"/>
            </a:endParaRPr>
          </a:p>
          <a:p>
            <a:pPr marL="514350" indent="-514350">
              <a:buAutoNum type="arabicPeriod"/>
            </a:pPr>
            <a:r>
              <a:rPr lang="en-US" dirty="0">
                <a:ea typeface="+mn-lt"/>
                <a:cs typeface="+mn-lt"/>
              </a:rPr>
              <a:t>Aashima et al., </a:t>
            </a:r>
            <a:r>
              <a:rPr lang="en-US" i="1" dirty="0">
                <a:ea typeface="+mn-lt"/>
                <a:cs typeface="+mn-lt"/>
              </a:rPr>
              <a:t>“Driver Drowsiness Detection System Using Image Processing and CNN”</a:t>
            </a:r>
            <a:r>
              <a:rPr lang="en-US" dirty="0">
                <a:ea typeface="+mn-lt"/>
                <a:cs typeface="+mn-lt"/>
              </a:rPr>
              <a:t> – International Journal of Engineering Research &amp; Technology (IJERT), Vol. 9, Issue 7, 2020.</a:t>
            </a:r>
            <a:br>
              <a:rPr lang="en-US" dirty="0">
                <a:ea typeface="+mn-lt"/>
                <a:cs typeface="+mn-lt"/>
              </a:rPr>
            </a:br>
            <a:r>
              <a:rPr lang="en-US" dirty="0">
                <a:ea typeface="+mn-lt"/>
                <a:cs typeface="+mn-lt"/>
              </a:rPr>
              <a:t> Explores the preprocessing pipeline along with CNN-based classification of eye states.</a:t>
            </a:r>
            <a:endParaRPr lang="en-US" dirty="0">
              <a:cs typeface="Arial"/>
            </a:endParaRPr>
          </a:p>
          <a:p>
            <a:pPr marL="514350" indent="-514350">
              <a:buAutoNum type="arabicPeriod"/>
            </a:pPr>
            <a:r>
              <a:rPr lang="en-US" dirty="0">
                <a:ea typeface="+mn-lt"/>
                <a:cs typeface="+mn-lt"/>
              </a:rPr>
              <a:t>Pawel </a:t>
            </a:r>
            <a:r>
              <a:rPr lang="en-US" dirty="0" err="1">
                <a:ea typeface="+mn-lt"/>
                <a:cs typeface="+mn-lt"/>
              </a:rPr>
              <a:t>Woznowski</a:t>
            </a:r>
            <a:r>
              <a:rPr lang="en-US" dirty="0">
                <a:ea typeface="+mn-lt"/>
                <a:cs typeface="+mn-lt"/>
              </a:rPr>
              <a:t> et al., </a:t>
            </a:r>
            <a:r>
              <a:rPr lang="en-US" i="1" dirty="0">
                <a:ea typeface="+mn-lt"/>
                <a:cs typeface="+mn-lt"/>
              </a:rPr>
              <a:t>“Real-Time Eye State Detection for Driver Drowsiness Monitoring Using Deep Convolutional Neural Networks”</a:t>
            </a:r>
            <a:r>
              <a:rPr lang="en-US" dirty="0">
                <a:ea typeface="+mn-lt"/>
                <a:cs typeface="+mn-lt"/>
              </a:rPr>
              <a:t> – Sensors (MDPI), Vol. 22, 2022.</a:t>
            </a:r>
            <a:br>
              <a:rPr lang="en-US" dirty="0">
                <a:ea typeface="+mn-lt"/>
                <a:cs typeface="+mn-lt"/>
              </a:rPr>
            </a:br>
            <a:r>
              <a:rPr lang="en-US" dirty="0">
                <a:ea typeface="+mn-lt"/>
                <a:cs typeface="+mn-lt"/>
              </a:rPr>
              <a:t> Employs advanced CNN architectures and pre-trained models for eye state detection in varied lighting conditions.</a:t>
            </a:r>
            <a:endParaRPr lang="en-US" dirty="0">
              <a:cs typeface="Arial"/>
            </a:endParaRPr>
          </a:p>
          <a:p>
            <a:pPr marL="514350" indent="-514350">
              <a:buAutoNum type="arabicPeriod"/>
            </a:pPr>
            <a:r>
              <a:rPr lang="en-US" dirty="0">
                <a:ea typeface="+mn-lt"/>
                <a:cs typeface="+mn-lt"/>
              </a:rPr>
              <a:t>K. Bhandari, A. Sharma, </a:t>
            </a:r>
            <a:r>
              <a:rPr lang="en-US" i="1" dirty="0">
                <a:ea typeface="+mn-lt"/>
                <a:cs typeface="+mn-lt"/>
              </a:rPr>
              <a:t>“Eye Blink Detection Using CNN for Drowsiness Detection”</a:t>
            </a:r>
            <a:r>
              <a:rPr lang="en-US" dirty="0">
                <a:ea typeface="+mn-lt"/>
                <a:cs typeface="+mn-lt"/>
              </a:rPr>
              <a:t> – International Journal of Computer Applications, Vol. 182, No. 46, 2019.</a:t>
            </a:r>
            <a:br>
              <a:rPr lang="en-US" dirty="0">
                <a:ea typeface="+mn-lt"/>
                <a:cs typeface="+mn-lt"/>
              </a:rPr>
            </a:br>
            <a:r>
              <a:rPr lang="en-US" dirty="0">
                <a:ea typeface="+mn-lt"/>
                <a:cs typeface="+mn-lt"/>
              </a:rPr>
              <a:t> Focused solely on blink frequency and eye closure using CNNs for early drowsiness symptoms.</a:t>
            </a:r>
            <a:endParaRPr lang="en-US" dirty="0">
              <a:cs typeface="Arial"/>
            </a:endParaRPr>
          </a:p>
          <a:p>
            <a:pPr marL="514350" indent="-514350">
              <a:buAutoNum type="arabicPeriod"/>
            </a:pPr>
            <a:r>
              <a:rPr lang="en-US" dirty="0">
                <a:ea typeface="+mn-lt"/>
                <a:cs typeface="+mn-lt"/>
              </a:rPr>
              <a:t>T. Sanjeev, A. Arora, </a:t>
            </a:r>
            <a:r>
              <a:rPr lang="en-US" i="1" dirty="0">
                <a:ea typeface="+mn-lt"/>
                <a:cs typeface="+mn-lt"/>
              </a:rPr>
              <a:t>“Real-Time Driver Drowsiness Detection System Using Deep Learning Techniques”</a:t>
            </a:r>
            <a:r>
              <a:rPr lang="en-US" dirty="0">
                <a:ea typeface="+mn-lt"/>
                <a:cs typeface="+mn-lt"/>
              </a:rPr>
              <a:t> – 2022, International Journal of Computer Sciences and Engineering.</a:t>
            </a:r>
            <a:br>
              <a:rPr lang="en-US" dirty="0">
                <a:ea typeface="+mn-lt"/>
                <a:cs typeface="+mn-lt"/>
              </a:rPr>
            </a:br>
            <a:r>
              <a:rPr lang="en-US" dirty="0">
                <a:ea typeface="+mn-lt"/>
                <a:cs typeface="+mn-lt"/>
              </a:rPr>
              <a:t> Presents an end-to-end deep learning pipeline from video input to drowsiness alerts, emphasizing system latency and accuracy.</a:t>
            </a:r>
            <a:endParaRPr lang="en-US" dirty="0">
              <a:cs typeface="Arial"/>
            </a:endParaRPr>
          </a:p>
          <a:p>
            <a:pPr>
              <a:buAutoNum type="arabicPeriod"/>
            </a:pPr>
            <a:endParaRPr lang="en-US" dirty="0">
              <a:cs typeface="Arial"/>
            </a:endParaRPr>
          </a:p>
        </p:txBody>
      </p:sp>
    </p:spTree>
    <p:extLst>
      <p:ext uri="{BB962C8B-B14F-4D97-AF65-F5344CB8AC3E}">
        <p14:creationId xmlns:p14="http://schemas.microsoft.com/office/powerpoint/2010/main" val="572233103"/>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Sagona Boo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emplate>office theme</Template>
  <TotalTime>1</TotalTime>
  <Words>2608</Words>
  <Application>Microsoft Office PowerPoint</Application>
  <PresentationFormat>Widescreen</PresentationFormat>
  <Paragraphs>179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Avenir Next LT Pro</vt:lpstr>
      <vt:lpstr>AvenirNext LT Pro Medium</vt:lpstr>
      <vt:lpstr>Sagona Book</vt:lpstr>
      <vt:lpstr>Times New Roman</vt:lpstr>
      <vt:lpstr>ExploreVTI</vt:lpstr>
      <vt:lpstr>Driver Drowsiness Detection using CNN</vt:lpstr>
      <vt:lpstr>Contents</vt:lpstr>
      <vt:lpstr>Topic:</vt:lpstr>
      <vt:lpstr>Introduction</vt:lpstr>
      <vt:lpstr>PowerPoint Presentation</vt:lpstr>
      <vt:lpstr>Motivation</vt:lpstr>
      <vt:lpstr>Literature Survey</vt:lpstr>
      <vt:lpstr>PowerPoint Presentation</vt:lpstr>
      <vt:lpstr>PowerPoint Presentation</vt:lpstr>
      <vt:lpstr>Summary / finding of literature Survey</vt:lpstr>
      <vt:lpstr>Objectives</vt:lpstr>
      <vt:lpstr>Architecture of System</vt:lpstr>
      <vt:lpstr>PowerPoint Presentation</vt:lpstr>
      <vt:lpstr>PowerPoint Presentation</vt:lpstr>
      <vt:lpstr>Real time Monitoring </vt:lpstr>
      <vt:lpstr>PowerPoint Presentation</vt:lpstr>
      <vt:lpstr>Implementation : CNN model</vt:lpstr>
      <vt:lpstr>Training</vt:lpstr>
      <vt:lpstr>Results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swapnil mahajan</cp:lastModifiedBy>
  <cp:revision>257</cp:revision>
  <dcterms:created xsi:type="dcterms:W3CDTF">2025-04-24T18:04:53Z</dcterms:created>
  <dcterms:modified xsi:type="dcterms:W3CDTF">2025-04-24T19:15:36Z</dcterms:modified>
</cp:coreProperties>
</file>